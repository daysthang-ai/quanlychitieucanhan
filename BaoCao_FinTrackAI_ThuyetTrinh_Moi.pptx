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108960" y="502920"/>
            <a:ext cx="5973775" cy="365760"/>
          </a:xfrm>
          <a:prstGeom prst="roundRect">
            <a:avLst/>
          </a:prstGeom>
          <a:solidFill>
            <a:srgbClr val="1E293B"/>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E5FF"/>
                </a:solidFill>
                <a:latin typeface="Segoe UI"/>
              </a:defRPr>
            </a:pPr>
            <a:r>
              <a:t>✦ BÁO CÁO ĐỀ TÀI HỌC PHẦN ỨNG DỤNG TRÍ TUỆ NHÂN TẠO ✦</a:t>
            </a:r>
          </a:p>
        </p:txBody>
      </p:sp>
      <p:sp>
        <p:nvSpPr>
          <p:cNvPr id="4" name="TextBox 3"/>
          <p:cNvSpPr txBox="1"/>
          <p:nvPr/>
        </p:nvSpPr>
        <p:spPr>
          <a:xfrm>
            <a:off x="731520" y="960120"/>
            <a:ext cx="10728655" cy="1234440"/>
          </a:xfrm>
          <a:prstGeom prst="rect">
            <a:avLst/>
          </a:prstGeom>
          <a:noFill/>
        </p:spPr>
        <p:txBody>
          <a:bodyPr wrap="square">
            <a:spAutoFit/>
          </a:bodyPr>
          <a:lstStyle/>
          <a:p>
            <a:pPr algn="ctr">
              <a:defRPr sz="3800" b="1">
                <a:solidFill>
                  <a:srgbClr val="FFFFFF"/>
                </a:solidFill>
                <a:latin typeface="Segoe UI"/>
              </a:defRPr>
            </a:pPr>
            <a:r>
              <a:t>FINTRACK AI</a:t>
            </a:r>
          </a:p>
          <a:p>
            <a:pPr algn="ctr">
              <a:defRPr sz="1650" b="1">
                <a:solidFill>
                  <a:srgbClr val="00FFAA"/>
                </a:solidFill>
                <a:latin typeface="Segoe UI"/>
              </a:defRPr>
            </a:pPr>
            <a:r>
              <a:t>ỨNG DỤNG QUẢN LÝ CHI TIÊU CÁ NHÂN TÍCH HỢP TRÍ TUỆ NHÂN TẠO</a:t>
            </a:r>
          </a:p>
          <a:p>
            <a:pPr algn="ctr">
              <a:defRPr sz="1150">
                <a:solidFill>
                  <a:srgbClr val="E2E8F0"/>
                </a:solidFill>
                <a:latin typeface="Segoe UI"/>
              </a:defRPr>
            </a:pPr>
            <a:r>
              <a:t>Giải pháp ghi chép tài chính thông minh, bảo mật an toàn và nhắc nhở chi tiêu hiệu quả</a:t>
            </a:r>
          </a:p>
        </p:txBody>
      </p:sp>
      <p:sp>
        <p:nvSpPr>
          <p:cNvPr id="5" name="Rounded Rectangle 4"/>
          <p:cNvSpPr/>
          <p:nvPr/>
        </p:nvSpPr>
        <p:spPr>
          <a:xfrm>
            <a:off x="731520" y="2468880"/>
            <a:ext cx="3337560" cy="2834640"/>
          </a:xfrm>
          <a:prstGeom prst="roundRect">
            <a:avLst/>
          </a:prstGeom>
          <a:solidFill>
            <a:srgbClr val="111827"/>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606040"/>
            <a:ext cx="3063240" cy="2560320"/>
          </a:xfrm>
          <a:prstGeom prst="rect">
            <a:avLst/>
          </a:prstGeom>
          <a:noFill/>
        </p:spPr>
        <p:txBody>
          <a:bodyPr wrap="square">
            <a:spAutoFit/>
          </a:bodyPr>
          <a:lstStyle/>
          <a:p>
            <a:pPr>
              <a:defRPr sz="1250" b="1">
                <a:solidFill>
                  <a:srgbClr val="00E5FF"/>
                </a:solidFill>
                <a:latin typeface="Segoe UI"/>
              </a:defRPr>
            </a:pPr>
            <a:r>
              <a:t>[ THÔNG TIN HỌC PHẦN ]</a:t>
            </a:r>
          </a:p>
          <a:p>
            <a:pPr>
              <a:defRPr sz="1050" b="1">
                <a:solidFill>
                  <a:srgbClr val="E2E8F0"/>
                </a:solidFill>
              </a:defRPr>
            </a:pPr>
            <a:r>
              <a:t>• Trường đào tạo: </a:t>
            </a:r>
            <a:r>
              <a:rPr b="0">
                <a:solidFill>
                  <a:srgbClr val="94A3B8"/>
                </a:solidFill>
              </a:rPr>
              <a:t>ĐH CNTT &amp; Truyền Thông (ICTU)</a:t>
            </a:r>
          </a:p>
          <a:p>
            <a:pPr>
              <a:defRPr sz="1050" b="1">
                <a:solidFill>
                  <a:srgbClr val="E2E8F0"/>
                </a:solidFill>
              </a:defRPr>
            </a:pPr>
            <a:r>
              <a:t>• Khoa chuyên môn: </a:t>
            </a:r>
            <a:r>
              <a:rPr b="0">
                <a:solidFill>
                  <a:srgbClr val="94A3B8"/>
                </a:solidFill>
              </a:rPr>
              <a:t>Khoa Công Nghệ Thông Tin</a:t>
            </a:r>
          </a:p>
          <a:p>
            <a:pPr>
              <a:defRPr sz="1050" b="1">
                <a:solidFill>
                  <a:srgbClr val="E2E8F0"/>
                </a:solidFill>
              </a:defRPr>
            </a:pPr>
            <a:r>
              <a:t>• Học phần: </a:t>
            </a:r>
            <a:r>
              <a:rPr b="0">
                <a:solidFill>
                  <a:srgbClr val="94A3B8"/>
                </a:solidFill>
              </a:rPr>
              <a:t>Ứng Dụng Trí Tuệ Nhân Tạo</a:t>
            </a:r>
          </a:p>
          <a:p>
            <a:pPr>
              <a:defRPr sz="1050" b="1">
                <a:solidFill>
                  <a:srgbClr val="E2E8F0"/>
                </a:solidFill>
              </a:defRPr>
            </a:pPr>
            <a:r>
              <a:t>• Thời gian thực hiện: </a:t>
            </a:r>
            <a:r>
              <a:rPr b="0">
                <a:solidFill>
                  <a:srgbClr val="94A3B8"/>
                </a:solidFill>
              </a:rPr>
              <a:t>Năm 2026</a:t>
            </a:r>
          </a:p>
        </p:txBody>
      </p:sp>
      <p:sp>
        <p:nvSpPr>
          <p:cNvPr id="7" name="Rounded Rectangle 6"/>
          <p:cNvSpPr/>
          <p:nvPr/>
        </p:nvSpPr>
        <p:spPr>
          <a:xfrm>
            <a:off x="4425696" y="2468880"/>
            <a:ext cx="3337560" cy="2834640"/>
          </a:xfrm>
          <a:prstGeom prst="roundRect">
            <a:avLst/>
          </a:prstGeom>
          <a:solidFill>
            <a:srgbClr val="111827"/>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62856" y="2606040"/>
            <a:ext cx="3063240" cy="2560320"/>
          </a:xfrm>
          <a:prstGeom prst="rect">
            <a:avLst/>
          </a:prstGeom>
          <a:noFill/>
        </p:spPr>
        <p:txBody>
          <a:bodyPr wrap="square">
            <a:spAutoFit/>
          </a:bodyPr>
          <a:lstStyle/>
          <a:p>
            <a:pPr>
              <a:defRPr sz="1250" b="1">
                <a:solidFill>
                  <a:srgbClr val="F59E0B"/>
                </a:solidFill>
                <a:latin typeface="Segoe UI"/>
              </a:defRPr>
            </a:pPr>
            <a:r>
              <a:t>[ GIẢNG VIÊN HƯỚNG DẪN ]</a:t>
            </a:r>
          </a:p>
          <a:p>
            <a:pPr>
              <a:defRPr sz="1050" b="1">
                <a:solidFill>
                  <a:srgbClr val="E2E8F0"/>
                </a:solidFill>
              </a:defRPr>
            </a:pPr>
            <a:r>
              <a:t>• Giảng viên hướng dẫn: </a:t>
            </a:r>
            <a:r>
              <a:rPr b="0">
                <a:solidFill>
                  <a:srgbClr val="94A3B8"/>
                </a:solidFill>
              </a:rPr>
              <a:t>ThS. Hà Thị Thanh</a:t>
            </a:r>
          </a:p>
          <a:p>
            <a:pPr>
              <a:defRPr sz="1050" b="1">
                <a:solidFill>
                  <a:srgbClr val="E2E8F0"/>
                </a:solidFill>
              </a:defRPr>
            </a:pPr>
            <a:r>
              <a:t>• Bộ môn: </a:t>
            </a:r>
            <a:r>
              <a:rPr b="0">
                <a:solidFill>
                  <a:srgbClr val="94A3B8"/>
                </a:solidFill>
              </a:rPr>
              <a:t>Trí Tuệ Nhân Tạo</a:t>
            </a:r>
          </a:p>
          <a:p>
            <a:pPr>
              <a:defRPr sz="1050" b="1">
                <a:solidFill>
                  <a:srgbClr val="E2E8F0"/>
                </a:solidFill>
              </a:defRPr>
            </a:pPr>
            <a:r>
              <a:t>• Vai trò: </a:t>
            </a:r>
            <a:r>
              <a:rPr b="0">
                <a:solidFill>
                  <a:srgbClr val="94A3B8"/>
                </a:solidFill>
              </a:rPr>
              <a:t>Định hướng &amp; Hướng dẫn đề tài</a:t>
            </a:r>
          </a:p>
          <a:p>
            <a:pPr>
              <a:defRPr sz="1050" b="1">
                <a:solidFill>
                  <a:srgbClr val="E2E8F0"/>
                </a:solidFill>
              </a:defRPr>
            </a:pPr>
            <a:r>
              <a:t>• Đánh giá: </a:t>
            </a:r>
            <a:r>
              <a:rPr b="0">
                <a:solidFill>
                  <a:srgbClr val="94A3B8"/>
                </a:solidFill>
              </a:rPr>
              <a:t>Ứng dụng AI thiết thực cho sinh viên</a:t>
            </a:r>
          </a:p>
        </p:txBody>
      </p:sp>
      <p:sp>
        <p:nvSpPr>
          <p:cNvPr id="9" name="Rounded Rectangle 8"/>
          <p:cNvSpPr/>
          <p:nvPr/>
        </p:nvSpPr>
        <p:spPr>
          <a:xfrm>
            <a:off x="8119872" y="2468880"/>
            <a:ext cx="3337560" cy="2834640"/>
          </a:xfrm>
          <a:prstGeom prst="roundRect">
            <a:avLst/>
          </a:prstGeom>
          <a:solidFill>
            <a:srgbClr val="111827"/>
          </a:solidFill>
          <a:ln w="19050">
            <a:solidFill>
              <a:srgbClr val="00FF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57031" y="2606040"/>
            <a:ext cx="3063240" cy="2560320"/>
          </a:xfrm>
          <a:prstGeom prst="rect">
            <a:avLst/>
          </a:prstGeom>
          <a:noFill/>
        </p:spPr>
        <p:txBody>
          <a:bodyPr wrap="square">
            <a:spAutoFit/>
          </a:bodyPr>
          <a:lstStyle/>
          <a:p>
            <a:pPr>
              <a:defRPr sz="1250" b="1">
                <a:solidFill>
                  <a:srgbClr val="00FFAA"/>
                </a:solidFill>
                <a:latin typeface="Segoe UI"/>
              </a:defRPr>
            </a:pPr>
            <a:r>
              <a:t>[ NHÓM THỰC HIỆN - NHÓM 03 ]</a:t>
            </a:r>
          </a:p>
          <a:p>
            <a:pPr>
              <a:defRPr sz="1050" b="1">
                <a:solidFill>
                  <a:srgbClr val="FFFFFF"/>
                </a:solidFill>
              </a:defRPr>
            </a:pPr>
            <a:r>
              <a:t>✦ 1. Đặng Quyết Thắng</a:t>
            </a:r>
          </a:p>
          <a:p>
            <a:pPr>
              <a:defRPr sz="950">
                <a:solidFill>
                  <a:srgbClr val="00FFAA"/>
                </a:solidFill>
              </a:defRPr>
            </a:pPr>
            <a:r>
              <a:t>   ↳ Trưởng Nhóm / Phát Triển Chính &amp; AI</a:t>
            </a:r>
          </a:p>
          <a:p>
            <a:pPr>
              <a:defRPr sz="1050" b="1">
                <a:solidFill>
                  <a:srgbClr val="FFFFFF"/>
                </a:solidFill>
              </a:defRPr>
            </a:pPr>
            <a:r>
              <a:t>✦ 2. Nguyễn Văn Tiến</a:t>
            </a:r>
          </a:p>
          <a:p>
            <a:pPr>
              <a:defRPr sz="950">
                <a:solidFill>
                  <a:srgbClr val="94A3B8"/>
                </a:solidFill>
              </a:defRPr>
            </a:pPr>
            <a:r>
              <a:t>   ↳ Thành Viên / Thiết Kế Giao Diện Web</a:t>
            </a:r>
          </a:p>
          <a:p>
            <a:pPr>
              <a:defRPr sz="1050" b="1">
                <a:solidFill>
                  <a:srgbClr val="FFFFFF"/>
                </a:solidFill>
              </a:defRPr>
            </a:pPr>
            <a:r>
              <a:t>✦ 3. Quách Minh Hiếu</a:t>
            </a:r>
          </a:p>
          <a:p>
            <a:pPr>
              <a:defRPr sz="950">
                <a:solidFill>
                  <a:srgbClr val="94A3B8"/>
                </a:solidFill>
              </a:defRPr>
            </a:pPr>
            <a:r>
              <a:t>   ↳ Thành Viên / Xử Lý Dữ Liệu &amp; Backend</a:t>
            </a:r>
          </a:p>
        </p:txBody>
      </p:sp>
      <p:sp>
        <p:nvSpPr>
          <p:cNvPr id="11" name="Rounded Rectangle 10"/>
          <p:cNvSpPr/>
          <p:nvPr/>
        </p:nvSpPr>
        <p:spPr>
          <a:xfrm>
            <a:off x="731520" y="5532120"/>
            <a:ext cx="2054291" cy="438912"/>
          </a:xfrm>
          <a:prstGeom prst="roundRect">
            <a:avLst/>
          </a:prstGeom>
          <a:solidFill>
            <a:srgbClr val="1E293B"/>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Segoe UI"/>
              </a:defRPr>
            </a:pPr>
            <a:r>
              <a:t>⚡ Nhập Chi Tiêu Bằng AI</a:t>
            </a:r>
          </a:p>
        </p:txBody>
      </p:sp>
      <p:sp>
        <p:nvSpPr>
          <p:cNvPr id="12" name="Rounded Rectangle 11"/>
          <p:cNvSpPr/>
          <p:nvPr/>
        </p:nvSpPr>
        <p:spPr>
          <a:xfrm>
            <a:off x="2877251" y="5532120"/>
            <a:ext cx="2054291" cy="438912"/>
          </a:xfrm>
          <a:prstGeom prst="roundRect">
            <a:avLst/>
          </a:prstGeom>
          <a:solidFill>
            <a:srgbClr val="1E293B"/>
          </a:solidFill>
          <a:ln w="15240">
            <a:solidFill>
              <a:srgbClr val="FF007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Segoe UI"/>
              </a:defRPr>
            </a:pPr>
            <a:r>
              <a:t>🛡️ Bảo Mật Xóa Dữ Liệu Nhạy Cảm</a:t>
            </a:r>
          </a:p>
        </p:txBody>
      </p:sp>
      <p:sp>
        <p:nvSpPr>
          <p:cNvPr id="13" name="Rounded Rectangle 12"/>
          <p:cNvSpPr/>
          <p:nvPr/>
        </p:nvSpPr>
        <p:spPr>
          <a:xfrm>
            <a:off x="5022982" y="5532120"/>
            <a:ext cx="2054291" cy="438912"/>
          </a:xfrm>
          <a:prstGeom prst="roundRect">
            <a:avLst/>
          </a:prstGeom>
          <a:solidFill>
            <a:srgbClr val="1E293B"/>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Segoe UI"/>
              </a:defRPr>
            </a:pPr>
            <a:r>
              <a:t>🩺 Cố Vấn Tiết Kiệm 50/30/20</a:t>
            </a:r>
          </a:p>
        </p:txBody>
      </p:sp>
      <p:sp>
        <p:nvSpPr>
          <p:cNvPr id="14" name="Rounded Rectangle 13"/>
          <p:cNvSpPr/>
          <p:nvPr/>
        </p:nvSpPr>
        <p:spPr>
          <a:xfrm>
            <a:off x="7168713" y="5532120"/>
            <a:ext cx="2054291" cy="438912"/>
          </a:xfrm>
          <a:prstGeom prst="roundRect">
            <a:avLst/>
          </a:prstGeom>
          <a:solidFill>
            <a:srgbClr val="1E293B"/>
          </a:solidFill>
          <a:ln w="15240">
            <a:solidFill>
              <a:srgbClr val="00FF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Segoe UI"/>
              </a:defRPr>
            </a:pPr>
            <a:r>
              <a:t>🏦 Quét Mã VietQR Tự Động</a:t>
            </a:r>
          </a:p>
        </p:txBody>
      </p:sp>
      <p:sp>
        <p:nvSpPr>
          <p:cNvPr id="15" name="Rounded Rectangle 14"/>
          <p:cNvSpPr/>
          <p:nvPr/>
        </p:nvSpPr>
        <p:spPr>
          <a:xfrm>
            <a:off x="9314444" y="5532120"/>
            <a:ext cx="2054291" cy="438912"/>
          </a:xfrm>
          <a:prstGeom prst="roundRect">
            <a:avLst/>
          </a:prstGeom>
          <a:solidFill>
            <a:srgbClr val="1E293B"/>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Segoe UI"/>
              </a:defRPr>
            </a:pPr>
            <a:r>
              <a:t>🎨 Giao Diện Đẹp Chuẩn 120 FPS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050" b="1">
                <a:solidFill>
                  <a:srgbClr val="00E5FF"/>
                </a:solidFill>
                <a:latin typeface="Segoe UI"/>
              </a:defRPr>
            </a:pPr>
            <a:r>
              <a:t>02 // LÝ DO CHỌN ĐỀ TÀI</a:t>
            </a:r>
          </a:p>
        </p:txBody>
      </p:sp>
      <p:sp>
        <p:nvSpPr>
          <p:cNvPr id="4" name="TextBox 3"/>
          <p:cNvSpPr txBox="1"/>
          <p:nvPr/>
        </p:nvSpPr>
        <p:spPr>
          <a:xfrm>
            <a:off x="731520" y="658368"/>
            <a:ext cx="10698480" cy="502920"/>
          </a:xfrm>
          <a:prstGeom prst="rect">
            <a:avLst/>
          </a:prstGeom>
          <a:noFill/>
        </p:spPr>
        <p:txBody>
          <a:bodyPr wrap="square" lIns="0" tIns="0" rIns="0" bIns="0">
            <a:spAutoFit/>
          </a:bodyPr>
          <a:lstStyle/>
          <a:p>
            <a:pPr>
              <a:defRPr sz="2100" b="1">
                <a:solidFill>
                  <a:srgbClr val="FFFFFF"/>
                </a:solidFill>
                <a:latin typeface="Segoe UI"/>
              </a:defRPr>
            </a:pPr>
            <a:r>
              <a:t>Vì Sao Nhóm Quyết Định Xây Dựng FinTrack AI?</a:t>
            </a:r>
          </a:p>
        </p:txBody>
      </p:sp>
      <p:sp>
        <p:nvSpPr>
          <p:cNvPr id="5" name="TextBox 4"/>
          <p:cNvSpPr txBox="1"/>
          <p:nvPr/>
        </p:nvSpPr>
        <p:spPr>
          <a:xfrm>
            <a:off x="731520" y="1143000"/>
            <a:ext cx="10698480" cy="320040"/>
          </a:xfrm>
          <a:prstGeom prst="rect">
            <a:avLst/>
          </a:prstGeom>
          <a:noFill/>
        </p:spPr>
        <p:txBody>
          <a:bodyPr wrap="square" lIns="0" tIns="0" rIns="0" bIns="0">
            <a:spAutoFit/>
          </a:bodyPr>
          <a:lstStyle/>
          <a:p>
            <a:pPr>
              <a:defRPr sz="1150">
                <a:solidFill>
                  <a:srgbClr val="94A3B8"/>
                </a:solidFill>
                <a:latin typeface="Segoe UI"/>
              </a:defRPr>
            </a:pPr>
            <a:r>
              <a:t>Giải quyết những khó khăn thực tế của giới trẻ và sinh viên trong việc quản lý tiền bạc hàng ngày</a:t>
            </a:r>
          </a:p>
        </p:txBody>
      </p:sp>
      <p:sp>
        <p:nvSpPr>
          <p:cNvPr id="6" name="Rectangle 5"/>
          <p:cNvSpPr/>
          <p:nvPr/>
        </p:nvSpPr>
        <p:spPr>
          <a:xfrm>
            <a:off x="731520" y="1508760"/>
            <a:ext cx="10728655" cy="18288"/>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91640"/>
            <a:ext cx="5257800" cy="2057400"/>
          </a:xfrm>
          <a:prstGeom prst="roundRect">
            <a:avLst/>
          </a:prstGeom>
          <a:solidFill>
            <a:srgbClr val="111827"/>
          </a:solidFill>
          <a:ln w="19050">
            <a:solidFill>
              <a:srgbClr val="FF00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56232"/>
            <a:ext cx="4892040" cy="1737360"/>
          </a:xfrm>
          <a:prstGeom prst="rect">
            <a:avLst/>
          </a:prstGeom>
          <a:noFill/>
        </p:spPr>
        <p:txBody>
          <a:bodyPr wrap="square">
            <a:spAutoFit/>
          </a:bodyPr>
          <a:lstStyle/>
          <a:p>
            <a:pPr>
              <a:defRPr sz="1300" b="1">
                <a:solidFill>
                  <a:srgbClr val="FF007A"/>
                </a:solidFill>
                <a:latin typeface="Segoe UI"/>
              </a:defRPr>
            </a:pPr>
            <a:r>
              <a:t>💸 1. Tiêu Tiền Không Kiểm Soát</a:t>
            </a:r>
          </a:p>
          <a:p>
            <a:pPr>
              <a:defRPr sz="1100">
                <a:solidFill>
                  <a:srgbClr val="E2E8F0"/>
                </a:solidFill>
                <a:latin typeface="Segoe UI"/>
              </a:defRPr>
            </a:pPr>
            <a:r>
              <a:t>Thói quen quét mã QR và chuyển khoản online quá tiện lợi khiến chúng ta dễ chi tiêu quá đà, cuối tháng hay bị rỗng ví mà không biết tiền đã đi đâu.</a:t>
            </a:r>
          </a:p>
        </p:txBody>
      </p:sp>
      <p:sp>
        <p:nvSpPr>
          <p:cNvPr id="9" name="Rounded Rectangle 8"/>
          <p:cNvSpPr/>
          <p:nvPr/>
        </p:nvSpPr>
        <p:spPr>
          <a:xfrm>
            <a:off x="6199632" y="1691640"/>
            <a:ext cx="5257800" cy="2057400"/>
          </a:xfrm>
          <a:prstGeom prst="roundRect">
            <a:avLst/>
          </a:prstGeom>
          <a:solidFill>
            <a:srgbClr val="111827"/>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82512" y="1856232"/>
            <a:ext cx="4892040" cy="1737360"/>
          </a:xfrm>
          <a:prstGeom prst="rect">
            <a:avLst/>
          </a:prstGeom>
          <a:noFill/>
        </p:spPr>
        <p:txBody>
          <a:bodyPr wrap="square">
            <a:spAutoFit/>
          </a:bodyPr>
          <a:lstStyle/>
          <a:p>
            <a:pPr>
              <a:defRPr sz="1300" b="1">
                <a:solidFill>
                  <a:srgbClr val="F59E0B"/>
                </a:solidFill>
                <a:latin typeface="Segoe UI"/>
              </a:defRPr>
            </a:pPr>
            <a:r>
              <a:t>📝 2. Lười Ghi Chép Sổ Sách</a:t>
            </a:r>
          </a:p>
          <a:p>
            <a:pPr>
              <a:defRPr sz="1100">
                <a:solidFill>
                  <a:srgbClr val="E2E8F0"/>
                </a:solidFill>
                <a:latin typeface="Segoe UI"/>
              </a:defRPr>
            </a:pPr>
            <a:r>
              <a:t>Nhập liệu bằng tay quá mất thời gian và phiền phức. Hầu hết mọi người chỉ ghi chép được vài hôm rồi bỏ cuộc vì hay quên các khoản chi nhỏ.</a:t>
            </a:r>
          </a:p>
        </p:txBody>
      </p:sp>
      <p:sp>
        <p:nvSpPr>
          <p:cNvPr id="11" name="Rounded Rectangle 10"/>
          <p:cNvSpPr/>
          <p:nvPr/>
        </p:nvSpPr>
        <p:spPr>
          <a:xfrm>
            <a:off x="731520" y="3977639"/>
            <a:ext cx="5257800" cy="2057400"/>
          </a:xfrm>
          <a:prstGeom prst="roundRect">
            <a:avLst/>
          </a:prstGeom>
          <a:solidFill>
            <a:srgbClr val="111827"/>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142231"/>
            <a:ext cx="4892040" cy="1737360"/>
          </a:xfrm>
          <a:prstGeom prst="rect">
            <a:avLst/>
          </a:prstGeom>
          <a:noFill/>
        </p:spPr>
        <p:txBody>
          <a:bodyPr wrap="square">
            <a:spAutoFit/>
          </a:bodyPr>
          <a:lstStyle/>
          <a:p>
            <a:pPr>
              <a:defRPr sz="1300" b="1">
                <a:solidFill>
                  <a:srgbClr val="8B5CF6"/>
                </a:solidFill>
                <a:latin typeface="Segoe UI"/>
              </a:defRPr>
            </a:pPr>
            <a:r>
              <a:t>🎯 3. Không Biết Cách Chia Tiền</a:t>
            </a:r>
          </a:p>
          <a:p>
            <a:pPr>
              <a:defRPr sz="1100">
                <a:solidFill>
                  <a:srgbClr val="E2E8F0"/>
                </a:solidFill>
                <a:latin typeface="Segoe UI"/>
              </a:defRPr>
            </a:pPr>
            <a:r>
              <a:t>Thiếu kiến thức phân bổ thu nhập hợp lý (ăn uống bao nhiêu, tiết kiệm bao nhiêu), không có kế hoạch rõ ràng để dành tiền cho tương lai.</a:t>
            </a:r>
          </a:p>
        </p:txBody>
      </p:sp>
      <p:sp>
        <p:nvSpPr>
          <p:cNvPr id="13" name="Rounded Rectangle 12"/>
          <p:cNvSpPr/>
          <p:nvPr/>
        </p:nvSpPr>
        <p:spPr>
          <a:xfrm>
            <a:off x="6199632" y="3977639"/>
            <a:ext cx="5257800" cy="2057400"/>
          </a:xfrm>
          <a:prstGeom prst="roundRect">
            <a:avLst/>
          </a:prstGeom>
          <a:solidFill>
            <a:srgbClr val="111827"/>
          </a:solidFill>
          <a:ln w="19050">
            <a:solidFill>
              <a:srgbClr val="00FF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2512" y="4142231"/>
            <a:ext cx="4892040" cy="1737360"/>
          </a:xfrm>
          <a:prstGeom prst="rect">
            <a:avLst/>
          </a:prstGeom>
          <a:noFill/>
        </p:spPr>
        <p:txBody>
          <a:bodyPr wrap="square">
            <a:spAutoFit/>
          </a:bodyPr>
          <a:lstStyle/>
          <a:p>
            <a:pPr>
              <a:defRPr sz="1300" b="1">
                <a:solidFill>
                  <a:srgbClr val="00FFAA"/>
                </a:solidFill>
                <a:latin typeface="Segoe UI"/>
              </a:defRPr>
            </a:pPr>
            <a:r>
              <a:t>💡 4. Mục Tiêu Của FinTrack AI</a:t>
            </a:r>
          </a:p>
          <a:p>
            <a:pPr>
              <a:defRPr sz="1100">
                <a:solidFill>
                  <a:srgbClr val="E2E8F0"/>
                </a:solidFill>
                <a:latin typeface="Segoe UI"/>
              </a:defRPr>
            </a:pPr>
            <a:r>
              <a:t>Tạo ra trang web giúp ghi chép siêu nhanh chỉ bằng một câu nói tự nhiên, có AI nhắc nhở và hướng dẫn quản lý tài chính thông minh 24/7.</a:t>
            </a:r>
          </a:p>
        </p:txBody>
      </p:sp>
      <p:sp>
        <p:nvSpPr>
          <p:cNvPr id="15" name="Rectangle 14"/>
          <p:cNvSpPr/>
          <p:nvPr/>
        </p:nvSpPr>
        <p:spPr>
          <a:xfrm>
            <a:off x="731520" y="6291072"/>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364224"/>
            <a:ext cx="6400800" cy="320040"/>
          </a:xfrm>
          <a:prstGeom prst="rect">
            <a:avLst/>
          </a:prstGeom>
          <a:noFill/>
        </p:spPr>
        <p:txBody>
          <a:bodyPr wrap="none" lIns="0" tIns="0" rIns="0" bIns="0">
            <a:spAutoFit/>
          </a:bodyPr>
          <a:lstStyle/>
          <a:p>
            <a:pPr>
              <a:defRPr sz="950">
                <a:solidFill>
                  <a:srgbClr val="64748B"/>
                </a:solidFill>
                <a:latin typeface="Segoe UI"/>
              </a:defRPr>
            </a:pPr>
            <a:r>
              <a:t>✦ FinTrack AI • Ứng Dụng Quản Lý Chi Tiêu Cá Nhân Tích Hợp AI  |  Nhóm 03 (ICTU)</a:t>
            </a:r>
          </a:p>
        </p:txBody>
      </p:sp>
      <p:sp>
        <p:nvSpPr>
          <p:cNvPr id="17" name="TextBox 16"/>
          <p:cNvSpPr txBox="1"/>
          <p:nvPr/>
        </p:nvSpPr>
        <p:spPr>
          <a:xfrm>
            <a:off x="8686800" y="6364224"/>
            <a:ext cx="2743200" cy="320040"/>
          </a:xfrm>
          <a:prstGeom prst="rect">
            <a:avLst/>
          </a:prstGeom>
          <a:noFill/>
        </p:spPr>
        <p:txBody>
          <a:bodyPr wrap="none" lIns="0" tIns="0" rIns="0" bIns="0">
            <a:spAutoFit/>
          </a:bodyPr>
          <a:lstStyle/>
          <a:p>
            <a:pPr algn="r">
              <a:defRPr sz="950" b="1">
                <a:solidFill>
                  <a:srgbClr val="00E5FF"/>
                </a:solidFill>
                <a:latin typeface="Segoe UI"/>
              </a:defRPr>
            </a:pPr>
            <a:r>
              <a:t>Slide 02 / 11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050" b="1">
                <a:solidFill>
                  <a:srgbClr val="00E5FF"/>
                </a:solidFill>
                <a:latin typeface="Segoe UI"/>
              </a:defRPr>
            </a:pPr>
            <a:r>
              <a:t>03 // CÔNG NGHỆ CÀI ĐẶT</a:t>
            </a:r>
          </a:p>
        </p:txBody>
      </p:sp>
      <p:sp>
        <p:nvSpPr>
          <p:cNvPr id="4" name="TextBox 3"/>
          <p:cNvSpPr txBox="1"/>
          <p:nvPr/>
        </p:nvSpPr>
        <p:spPr>
          <a:xfrm>
            <a:off x="731520" y="658368"/>
            <a:ext cx="10698480" cy="502920"/>
          </a:xfrm>
          <a:prstGeom prst="rect">
            <a:avLst/>
          </a:prstGeom>
          <a:noFill/>
        </p:spPr>
        <p:txBody>
          <a:bodyPr wrap="square" lIns="0" tIns="0" rIns="0" bIns="0">
            <a:spAutoFit/>
          </a:bodyPr>
          <a:lstStyle/>
          <a:p>
            <a:pPr>
              <a:defRPr sz="2100" b="1">
                <a:solidFill>
                  <a:srgbClr val="FFFFFF"/>
                </a:solidFill>
                <a:latin typeface="Segoe UI"/>
              </a:defRPr>
            </a:pPr>
            <a:r>
              <a:t>Những Công Nghệ Chính Nhóm Đã Sử Dụng</a:t>
            </a:r>
          </a:p>
        </p:txBody>
      </p:sp>
      <p:sp>
        <p:nvSpPr>
          <p:cNvPr id="5" name="TextBox 4"/>
          <p:cNvSpPr txBox="1"/>
          <p:nvPr/>
        </p:nvSpPr>
        <p:spPr>
          <a:xfrm>
            <a:off x="731520" y="1143000"/>
            <a:ext cx="10698480" cy="320040"/>
          </a:xfrm>
          <a:prstGeom prst="rect">
            <a:avLst/>
          </a:prstGeom>
          <a:noFill/>
        </p:spPr>
        <p:txBody>
          <a:bodyPr wrap="square" lIns="0" tIns="0" rIns="0" bIns="0">
            <a:spAutoFit/>
          </a:bodyPr>
          <a:lstStyle/>
          <a:p>
            <a:pPr>
              <a:defRPr sz="1150">
                <a:solidFill>
                  <a:srgbClr val="94A3B8"/>
                </a:solidFill>
                <a:latin typeface="Segoe UI"/>
              </a:defRPr>
            </a:pPr>
            <a:r>
              <a:t>Lựa chọn các công nghệ hiện đại, ổn định và tối ưu để xây dựng ứng dụng web chạy nhanh và mượt mà</a:t>
            </a:r>
          </a:p>
        </p:txBody>
      </p:sp>
      <p:sp>
        <p:nvSpPr>
          <p:cNvPr id="6" name="Rectangle 5"/>
          <p:cNvSpPr/>
          <p:nvPr/>
        </p:nvSpPr>
        <p:spPr>
          <a:xfrm>
            <a:off x="731520" y="1508760"/>
            <a:ext cx="10728655" cy="18288"/>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91640"/>
            <a:ext cx="5257800" cy="2057400"/>
          </a:xfrm>
          <a:prstGeom prst="roundRect">
            <a:avLst/>
          </a:prstGeom>
          <a:solidFill>
            <a:srgbClr val="111827"/>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4892040" cy="1783080"/>
          </a:xfrm>
          <a:prstGeom prst="rect">
            <a:avLst/>
          </a:prstGeom>
          <a:noFill/>
        </p:spPr>
        <p:txBody>
          <a:bodyPr wrap="square">
            <a:spAutoFit/>
          </a:bodyPr>
          <a:lstStyle/>
          <a:p>
            <a:pPr>
              <a:defRPr sz="1250" b="1">
                <a:solidFill>
                  <a:srgbClr val="00E5FF"/>
                </a:solidFill>
                <a:latin typeface="Segoe UI"/>
              </a:defRPr>
            </a:pPr>
            <a:r>
              <a:t>🎨 Giao Diện Web (Frontend)</a:t>
            </a:r>
          </a:p>
          <a:p>
            <a:pPr>
              <a:defRPr sz="950" b="1">
                <a:solidFill>
                  <a:srgbClr val="94A3B8"/>
                </a:solidFill>
                <a:latin typeface="Segoe UI"/>
              </a:defRPr>
            </a:pPr>
            <a:r>
              <a:t>Công nghệ: HTML5, CSS Neo-Futuristic &amp; Chart.js</a:t>
            </a:r>
          </a:p>
          <a:p>
            <a:pPr>
              <a:defRPr sz="1000">
                <a:solidFill>
                  <a:srgbClr val="E2E8F0"/>
                </a:solidFill>
                <a:latin typeface="Segoe UI"/>
              </a:defRPr>
            </a:pPr>
            <a:r>
              <a:t>• Giao diện phong cách Neon tối giản, hiện đại và rất bắt mắt.</a:t>
            </a:r>
          </a:p>
          <a:p>
            <a:pPr>
              <a:defRPr sz="1000">
                <a:solidFill>
                  <a:srgbClr val="E2E8F0"/>
                </a:solidFill>
                <a:latin typeface="Segoe UI"/>
              </a:defRPr>
            </a:pPr>
            <a:r>
              <a:t>• Thao tác mượt mà, đổi trang ngay lập tức không cần tải lại.</a:t>
            </a:r>
          </a:p>
          <a:p>
            <a:pPr>
              <a:defRPr sz="1000">
                <a:solidFill>
                  <a:srgbClr val="E2E8F0"/>
                </a:solidFill>
                <a:latin typeface="Segoe UI"/>
              </a:defRPr>
            </a:pPr>
            <a:r>
              <a:t>• Biểu đồ tròn và biểu đồ cột trực quan, dễ nhìn cơ cấu chi tiêu.</a:t>
            </a:r>
          </a:p>
        </p:txBody>
      </p:sp>
      <p:sp>
        <p:nvSpPr>
          <p:cNvPr id="9" name="Rounded Rectangle 8"/>
          <p:cNvSpPr/>
          <p:nvPr/>
        </p:nvSpPr>
        <p:spPr>
          <a:xfrm>
            <a:off x="6199632" y="1691640"/>
            <a:ext cx="5257800" cy="2057400"/>
          </a:xfrm>
          <a:prstGeom prst="roundRect">
            <a:avLst/>
          </a:prstGeom>
          <a:solidFill>
            <a:srgbClr val="111827"/>
          </a:solidFill>
          <a:ln w="19050">
            <a:solidFill>
              <a:srgbClr val="00FF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82512" y="1828800"/>
            <a:ext cx="4892040" cy="1783080"/>
          </a:xfrm>
          <a:prstGeom prst="rect">
            <a:avLst/>
          </a:prstGeom>
          <a:noFill/>
        </p:spPr>
        <p:txBody>
          <a:bodyPr wrap="square">
            <a:spAutoFit/>
          </a:bodyPr>
          <a:lstStyle/>
          <a:p>
            <a:pPr>
              <a:defRPr sz="1250" b="1">
                <a:solidFill>
                  <a:srgbClr val="00FFAA"/>
                </a:solidFill>
                <a:latin typeface="Segoe UI"/>
              </a:defRPr>
            </a:pPr>
            <a:r>
              <a:t>⚡ Xử Lý Hệ Thống (Backend)</a:t>
            </a:r>
          </a:p>
          <a:p>
            <a:pPr>
              <a:defRPr sz="950" b="1">
                <a:solidFill>
                  <a:srgbClr val="94A3B8"/>
                </a:solidFill>
                <a:latin typeface="Segoe UI"/>
              </a:defRPr>
            </a:pPr>
            <a:r>
              <a:t>Công nghệ: Ngôn ngữ Python &amp; Khung FastAPI</a:t>
            </a:r>
          </a:p>
          <a:p>
            <a:pPr>
              <a:defRPr sz="1000">
                <a:solidFill>
                  <a:srgbClr val="E2E8F0"/>
                </a:solidFill>
                <a:latin typeface="Segoe UI"/>
              </a:defRPr>
            </a:pPr>
            <a:r>
              <a:t>• Sử dụng Python với FastAPI cho tốc độ xử lý siêu nhanh.</a:t>
            </a:r>
          </a:p>
          <a:p>
            <a:pPr>
              <a:defRPr sz="1000">
                <a:solidFill>
                  <a:srgbClr val="E2E8F0"/>
                </a:solidFill>
                <a:latin typeface="Segoe UI"/>
              </a:defRPr>
            </a:pPr>
            <a:r>
              <a:t>• Hệ thống chạy ổn định, an toàn và dễ dàng mở rộng.</a:t>
            </a:r>
          </a:p>
          <a:p>
            <a:pPr>
              <a:defRPr sz="1000">
                <a:solidFill>
                  <a:srgbClr val="E2E8F0"/>
                </a:solidFill>
                <a:latin typeface="Segoe UI"/>
              </a:defRPr>
            </a:pPr>
            <a:r>
              <a:t>• Đăng nhập an toàn bằng mã khóa JWT bảo vệ 24 giờ.</a:t>
            </a:r>
          </a:p>
        </p:txBody>
      </p:sp>
      <p:sp>
        <p:nvSpPr>
          <p:cNvPr id="11" name="Rounded Rectangle 10"/>
          <p:cNvSpPr/>
          <p:nvPr/>
        </p:nvSpPr>
        <p:spPr>
          <a:xfrm>
            <a:off x="731520" y="3977639"/>
            <a:ext cx="5257800" cy="2057400"/>
          </a:xfrm>
          <a:prstGeom prst="roundRect">
            <a:avLst/>
          </a:prstGeom>
          <a:solidFill>
            <a:srgbClr val="111827"/>
          </a:solidFill>
          <a:ln w="19050">
            <a:solidFill>
              <a:srgbClr val="FF00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114800"/>
            <a:ext cx="4892040" cy="1783080"/>
          </a:xfrm>
          <a:prstGeom prst="rect">
            <a:avLst/>
          </a:prstGeom>
          <a:noFill/>
        </p:spPr>
        <p:txBody>
          <a:bodyPr wrap="square">
            <a:spAutoFit/>
          </a:bodyPr>
          <a:lstStyle/>
          <a:p>
            <a:pPr>
              <a:defRPr sz="1250" b="1">
                <a:solidFill>
                  <a:srgbClr val="FF007A"/>
                </a:solidFill>
                <a:latin typeface="Segoe UI"/>
              </a:defRPr>
            </a:pPr>
            <a:r>
              <a:t>🧠 Trí Tuệ Nhân Tạo (AI Engine)</a:t>
            </a:r>
          </a:p>
          <a:p>
            <a:pPr>
              <a:defRPr sz="950" b="1">
                <a:solidFill>
                  <a:srgbClr val="94A3B8"/>
                </a:solidFill>
                <a:latin typeface="Segoe UI"/>
              </a:defRPr>
            </a:pPr>
            <a:r>
              <a:t>Công nghệ: Google Gemini 1.5 Pro</a:t>
            </a:r>
          </a:p>
          <a:p>
            <a:pPr>
              <a:defRPr sz="1000">
                <a:solidFill>
                  <a:srgbClr val="E2E8F0"/>
                </a:solidFill>
                <a:latin typeface="Segoe UI"/>
              </a:defRPr>
            </a:pPr>
            <a:r>
              <a:t>• Hiểu tiếng Việt cực tốt, nhận diện từ lóng và cách viết tắt.</a:t>
            </a:r>
          </a:p>
          <a:p>
            <a:pPr>
              <a:defRPr sz="1000">
                <a:solidFill>
                  <a:srgbClr val="E2E8F0"/>
                </a:solidFill>
                <a:latin typeface="Segoe UI"/>
              </a:defRPr>
            </a:pPr>
            <a:r>
              <a:t>• Tự động phân loại chi tiêu và đưa ra lời khuyên tài chính 24/7.</a:t>
            </a:r>
          </a:p>
          <a:p>
            <a:pPr>
              <a:defRPr sz="1000">
                <a:solidFill>
                  <a:srgbClr val="E2E8F0"/>
                </a:solidFill>
                <a:latin typeface="Segoe UI"/>
              </a:defRPr>
            </a:pPr>
            <a:r>
              <a:t>• Tốc độ phản hồi cực nhanh, chỉ mất khoảng 0.5 giây.</a:t>
            </a:r>
          </a:p>
        </p:txBody>
      </p:sp>
      <p:sp>
        <p:nvSpPr>
          <p:cNvPr id="13" name="Rounded Rectangle 12"/>
          <p:cNvSpPr/>
          <p:nvPr/>
        </p:nvSpPr>
        <p:spPr>
          <a:xfrm>
            <a:off x="6199632" y="3977639"/>
            <a:ext cx="5257800" cy="2057400"/>
          </a:xfrm>
          <a:prstGeom prst="roundRect">
            <a:avLst/>
          </a:prstGeom>
          <a:solidFill>
            <a:srgbClr val="111827"/>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2512" y="4114800"/>
            <a:ext cx="4892040" cy="1783080"/>
          </a:xfrm>
          <a:prstGeom prst="rect">
            <a:avLst/>
          </a:prstGeom>
          <a:noFill/>
        </p:spPr>
        <p:txBody>
          <a:bodyPr wrap="square">
            <a:spAutoFit/>
          </a:bodyPr>
          <a:lstStyle/>
          <a:p>
            <a:pPr>
              <a:defRPr sz="1250" b="1">
                <a:solidFill>
                  <a:srgbClr val="F59E0B"/>
                </a:solidFill>
                <a:latin typeface="Segoe UI"/>
              </a:defRPr>
            </a:pPr>
            <a:r>
              <a:t>🗄️ Cơ Sở Dữ Liệu (Database)</a:t>
            </a:r>
          </a:p>
          <a:p>
            <a:pPr>
              <a:defRPr sz="950" b="1">
                <a:solidFill>
                  <a:srgbClr val="94A3B8"/>
                </a:solidFill>
                <a:latin typeface="Segoe UI"/>
              </a:defRPr>
            </a:pPr>
            <a:r>
              <a:t>Công nghệ: Hệ quản trị CSDL SQLite</a:t>
            </a:r>
          </a:p>
          <a:p>
            <a:pPr>
              <a:defRPr sz="1000">
                <a:solidFill>
                  <a:srgbClr val="E2E8F0"/>
                </a:solidFill>
                <a:latin typeface="Segoe UI"/>
              </a:defRPr>
            </a:pPr>
            <a:r>
              <a:t>• Thiết kế 11 bảng dữ liệu khoa học, lưu trữ thông tin gọn gàng.</a:t>
            </a:r>
          </a:p>
          <a:p>
            <a:pPr>
              <a:defRPr sz="1000">
                <a:solidFill>
                  <a:srgbClr val="E2E8F0"/>
                </a:solidFill>
                <a:latin typeface="Segoe UI"/>
              </a:defRPr>
            </a:pPr>
            <a:r>
              <a:t>• Phân chia rõ ràng: ví ghi chép hàng ngày và ví tiền thanh toán.</a:t>
            </a:r>
          </a:p>
          <a:p>
            <a:pPr>
              <a:defRPr sz="1000">
                <a:solidFill>
                  <a:srgbClr val="E2E8F0"/>
                </a:solidFill>
                <a:latin typeface="Segoe UI"/>
              </a:defRPr>
            </a:pPr>
            <a:r>
              <a:t>• Lưu trữ dữ liệu an toàn, không bao giờ lo mất thông tin giao dịch.</a:t>
            </a:r>
          </a:p>
        </p:txBody>
      </p:sp>
      <p:sp>
        <p:nvSpPr>
          <p:cNvPr id="15" name="Rectangle 14"/>
          <p:cNvSpPr/>
          <p:nvPr/>
        </p:nvSpPr>
        <p:spPr>
          <a:xfrm>
            <a:off x="731520" y="6291072"/>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364224"/>
            <a:ext cx="6400800" cy="320040"/>
          </a:xfrm>
          <a:prstGeom prst="rect">
            <a:avLst/>
          </a:prstGeom>
          <a:noFill/>
        </p:spPr>
        <p:txBody>
          <a:bodyPr wrap="none" lIns="0" tIns="0" rIns="0" bIns="0">
            <a:spAutoFit/>
          </a:bodyPr>
          <a:lstStyle/>
          <a:p>
            <a:pPr>
              <a:defRPr sz="950">
                <a:solidFill>
                  <a:srgbClr val="64748B"/>
                </a:solidFill>
                <a:latin typeface="Segoe UI"/>
              </a:defRPr>
            </a:pPr>
            <a:r>
              <a:t>✦ FinTrack AI • Ứng Dụng Quản Lý Chi Tiêu Cá Nhân Tích Hợp AI  |  Nhóm 03 (ICTU)</a:t>
            </a:r>
          </a:p>
        </p:txBody>
      </p:sp>
      <p:sp>
        <p:nvSpPr>
          <p:cNvPr id="17" name="TextBox 16"/>
          <p:cNvSpPr txBox="1"/>
          <p:nvPr/>
        </p:nvSpPr>
        <p:spPr>
          <a:xfrm>
            <a:off x="8686800" y="6364224"/>
            <a:ext cx="2743200" cy="320040"/>
          </a:xfrm>
          <a:prstGeom prst="rect">
            <a:avLst/>
          </a:prstGeom>
          <a:noFill/>
        </p:spPr>
        <p:txBody>
          <a:bodyPr wrap="none" lIns="0" tIns="0" rIns="0" bIns="0">
            <a:spAutoFit/>
          </a:bodyPr>
          <a:lstStyle/>
          <a:p>
            <a:pPr algn="r">
              <a:defRPr sz="950" b="1">
                <a:solidFill>
                  <a:srgbClr val="00E5FF"/>
                </a:solidFill>
                <a:latin typeface="Segoe UI"/>
              </a:defRPr>
            </a:pPr>
            <a:r>
              <a:t>Slide 03 / 11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050" b="1">
                <a:solidFill>
                  <a:srgbClr val="00E5FF"/>
                </a:solidFill>
                <a:latin typeface="Segoe UI"/>
              </a:defRPr>
            </a:pPr>
            <a:r>
              <a:t>04 // TÍNH NĂNG NỔI BẬT 1</a:t>
            </a:r>
          </a:p>
        </p:txBody>
      </p:sp>
      <p:sp>
        <p:nvSpPr>
          <p:cNvPr id="4" name="TextBox 3"/>
          <p:cNvSpPr txBox="1"/>
          <p:nvPr/>
        </p:nvSpPr>
        <p:spPr>
          <a:xfrm>
            <a:off x="731520" y="658368"/>
            <a:ext cx="10698480" cy="502920"/>
          </a:xfrm>
          <a:prstGeom prst="rect">
            <a:avLst/>
          </a:prstGeom>
          <a:noFill/>
        </p:spPr>
        <p:txBody>
          <a:bodyPr wrap="square" lIns="0" tIns="0" rIns="0" bIns="0">
            <a:spAutoFit/>
          </a:bodyPr>
          <a:lstStyle/>
          <a:p>
            <a:pPr>
              <a:defRPr sz="2100" b="1">
                <a:solidFill>
                  <a:srgbClr val="FFFFFF"/>
                </a:solidFill>
                <a:latin typeface="Segoe UI"/>
              </a:defRPr>
            </a:pPr>
            <a:r>
              <a:t>Nhập Chi Tiêu Siêu Nhanh Bằng Câu Nói Với AI</a:t>
            </a:r>
          </a:p>
        </p:txBody>
      </p:sp>
      <p:sp>
        <p:nvSpPr>
          <p:cNvPr id="5" name="TextBox 4"/>
          <p:cNvSpPr txBox="1"/>
          <p:nvPr/>
        </p:nvSpPr>
        <p:spPr>
          <a:xfrm>
            <a:off x="731520" y="1143000"/>
            <a:ext cx="10698480" cy="320040"/>
          </a:xfrm>
          <a:prstGeom prst="rect">
            <a:avLst/>
          </a:prstGeom>
          <a:noFill/>
        </p:spPr>
        <p:txBody>
          <a:bodyPr wrap="square" lIns="0" tIns="0" rIns="0" bIns="0">
            <a:spAutoFit/>
          </a:bodyPr>
          <a:lstStyle/>
          <a:p>
            <a:pPr>
              <a:defRPr sz="1150">
                <a:solidFill>
                  <a:srgbClr val="94A3B8"/>
                </a:solidFill>
                <a:latin typeface="Segoe UI"/>
              </a:defRPr>
            </a:pPr>
            <a:r>
              <a:t>Không cần bấm chọn từng ô phức tạp - Chỉ cần gõ hoặc nói một câu tự nhiên như nhắn tin cho bạn bè</a:t>
            </a:r>
          </a:p>
        </p:txBody>
      </p:sp>
      <p:sp>
        <p:nvSpPr>
          <p:cNvPr id="6" name="Rectangle 5"/>
          <p:cNvSpPr/>
          <p:nvPr/>
        </p:nvSpPr>
        <p:spPr>
          <a:xfrm>
            <a:off x="731520" y="1508760"/>
            <a:ext cx="10728655" cy="18288"/>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91640"/>
            <a:ext cx="6217920" cy="4434840"/>
          </a:xfrm>
          <a:prstGeom prst="roundRect">
            <a:avLst/>
          </a:prstGeom>
          <a:solidFill>
            <a:srgbClr val="111827"/>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828800"/>
            <a:ext cx="5760720" cy="4114800"/>
          </a:xfrm>
          <a:prstGeom prst="rect">
            <a:avLst/>
          </a:prstGeom>
          <a:noFill/>
        </p:spPr>
        <p:txBody>
          <a:bodyPr wrap="square">
            <a:spAutoFit/>
          </a:bodyPr>
          <a:lstStyle/>
          <a:p>
            <a:pPr>
              <a:defRPr sz="1300" b="1">
                <a:solidFill>
                  <a:srgbClr val="00E5FF"/>
                </a:solidFill>
                <a:latin typeface="Segoe UI"/>
              </a:defRPr>
            </a:pPr>
            <a:r>
              <a:t>⚡ CÁCH AI TỰ ĐỘNG HIỂU &amp; LƯU GIAO DỊCH</a:t>
            </a:r>
          </a:p>
          <a:p>
            <a:pPr>
              <a:defRPr sz="1050" b="1">
                <a:solidFill>
                  <a:srgbClr val="00FFAA"/>
                </a:solidFill>
                <a:latin typeface="Segoe UI"/>
              </a:defRPr>
            </a:pPr>
            <a:r>
              <a:t>💬 Ví dụ câu gõ: "Ăn sáng bún bò 35k ví MoMo" hoặc "Lương tháng này 15tr vào MB Bank"</a:t>
            </a:r>
          </a:p>
          <a:p>
            <a:pPr>
              <a:defRPr sz="1100" b="1">
                <a:solidFill>
                  <a:srgbClr val="FFFFFF"/>
                </a:solidFill>
                <a:latin typeface="Segoe UI"/>
              </a:defRPr>
            </a:pPr>
            <a:r>
              <a:t>1. Tự Hiểu Ngôn Ngữ Tự Nhiên:</a:t>
            </a:r>
          </a:p>
          <a:p>
            <a:pPr>
              <a:defRPr sz="1000">
                <a:solidFill>
                  <a:srgbClr val="E2E8F0"/>
                </a:solidFill>
                <a:latin typeface="Segoe UI"/>
              </a:defRPr>
            </a:pPr>
            <a:r>
              <a:t>Người dùng gõ câu nói bình thường với từ viết tắt như 'k', 'tr', 'lít', 'củ'. AI vẫn hiểu chính xác 100%.</a:t>
            </a:r>
          </a:p>
          <a:p>
            <a:pPr>
              <a:defRPr sz="1100" b="1">
                <a:solidFill>
                  <a:srgbClr val="FFFFFF"/>
                </a:solidFill>
                <a:latin typeface="Segoe UI"/>
              </a:defRPr>
            </a:pPr>
            <a:r>
              <a:t>2. Tự Động Bóc Tách Đầy Đủ 4 Thông Tin:</a:t>
            </a:r>
          </a:p>
          <a:p>
            <a:pPr>
              <a:defRPr sz="1000">
                <a:solidFill>
                  <a:srgbClr val="E2E8F0"/>
                </a:solidFill>
                <a:latin typeface="Segoe UI"/>
              </a:defRPr>
            </a:pPr>
            <a:r>
              <a:t>• Số tiền: Tự quy đổi 35k ➜ 35.000đ | 15tr ➜ 15.000.000đ.</a:t>
            </a:r>
            <a:br/>
            <a:r>
              <a:t>• Phân loại: Tự biết là Tiền Ăn Uống (Chi tiêu) hay Tiền Lương (Thu nhập).</a:t>
            </a:r>
            <a:br/>
            <a:r>
              <a:t>• Ví thanh toán: Tự gán vào ví MoMo, MB Bank hoặc Tiền mặt.</a:t>
            </a:r>
          </a:p>
          <a:p>
            <a:pPr>
              <a:defRPr sz="1100" b="1">
                <a:solidFill>
                  <a:srgbClr val="FFFFFF"/>
                </a:solidFill>
                <a:latin typeface="Segoe UI"/>
              </a:defRPr>
            </a:pPr>
            <a:r>
              <a:t>3. Tốc Độ Phản Hồi Tức Thì:</a:t>
            </a:r>
          </a:p>
          <a:p>
            <a:pPr>
              <a:defRPr sz="1000">
                <a:solidFill>
                  <a:srgbClr val="E2E8F0"/>
                </a:solidFill>
                <a:latin typeface="Segoe UI"/>
              </a:defRPr>
            </a:pPr>
            <a:r>
              <a:t>Xong ngay chỉ sau 0.4 - 0.5 giây, giảm tới 90% thời gian so với cách nhập tay truyền thống.</a:t>
            </a:r>
          </a:p>
        </p:txBody>
      </p:sp>
      <p:sp>
        <p:nvSpPr>
          <p:cNvPr id="9" name="Rounded Rectangle 8"/>
          <p:cNvSpPr/>
          <p:nvPr/>
        </p:nvSpPr>
        <p:spPr>
          <a:xfrm>
            <a:off x="7132320" y="1691640"/>
            <a:ext cx="4327855" cy="4434840"/>
          </a:xfrm>
          <a:prstGeom prst="roundRect">
            <a:avLst/>
          </a:prstGeom>
          <a:solidFill>
            <a:srgbClr val="111827"/>
          </a:solidFill>
          <a:ln w="19050">
            <a:solidFill>
              <a:srgbClr val="FF00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60920" y="1828800"/>
            <a:ext cx="3886200" cy="4114800"/>
          </a:xfrm>
          <a:prstGeom prst="rect">
            <a:avLst/>
          </a:prstGeom>
          <a:noFill/>
        </p:spPr>
        <p:txBody>
          <a:bodyPr wrap="square">
            <a:spAutoFit/>
          </a:bodyPr>
          <a:lstStyle/>
          <a:p>
            <a:pPr>
              <a:defRPr sz="1300" b="1">
                <a:solidFill>
                  <a:srgbClr val="FF007A"/>
                </a:solidFill>
                <a:latin typeface="Segoe UI"/>
              </a:defRPr>
            </a:pPr>
            <a:r>
              <a:t>🛡️ TỰ ĐỘNG XÓA DỮ LIỆU NHẠY CẢM</a:t>
            </a:r>
          </a:p>
          <a:p>
            <a:pPr>
              <a:defRPr sz="1000">
                <a:solidFill>
                  <a:srgbClr val="94A3B8"/>
                </a:solidFill>
                <a:latin typeface="Segoe UI"/>
              </a:defRPr>
            </a:pPr>
            <a:r>
              <a:t>Cam kết bảo vệ quyền riêng tư tuyệt đối cho người dùng</a:t>
            </a:r>
          </a:p>
          <a:p>
            <a:pPr>
              <a:defRPr sz="1100" b="1">
                <a:solidFill>
                  <a:srgbClr val="FFFFFF"/>
                </a:solidFill>
                <a:latin typeface="Segoe UI"/>
              </a:defRPr>
            </a:pPr>
            <a:r>
              <a:t>Nỗi Lo Của Người Dùng:</a:t>
            </a:r>
          </a:p>
          <a:p>
            <a:pPr>
              <a:defRPr sz="980">
                <a:solidFill>
                  <a:srgbClr val="E2E8F0"/>
                </a:solidFill>
                <a:latin typeface="Segoe UI"/>
              </a:defRPr>
            </a:pPr>
            <a:r>
              <a:t>Sợ bị lộ số tài khoản ngân hàng, số thẻ ngân hàng hoặc tên thật khi gửi dữ liệu lên AI.</a:t>
            </a:r>
          </a:p>
          <a:p>
            <a:pPr>
              <a:defRPr sz="1100" b="1">
                <a:solidFill>
                  <a:srgbClr val="FFFFFF"/>
                </a:solidFill>
                <a:latin typeface="Segoe UI"/>
              </a:defRPr>
            </a:pPr>
            <a:r>
              <a:t>Cách Xử Lý Của FinTrack AI:</a:t>
            </a:r>
          </a:p>
          <a:p>
            <a:pPr>
              <a:defRPr sz="980">
                <a:solidFill>
                  <a:srgbClr val="E2E8F0"/>
                </a:solidFill>
                <a:latin typeface="Segoe UI"/>
              </a:defRPr>
            </a:pPr>
            <a:r>
              <a:t>• Hệ thống tự động quét và che đi mọi số tài khoản ngân hàng, số thẻ trước khi gửi sang máy chủ AI.</a:t>
            </a:r>
            <a:br/>
            <a:r>
              <a:t>• Chỉ gửi nội dung chi tiêu thuần túy để AI phân tích.</a:t>
            </a:r>
          </a:p>
          <a:p>
            <a:pPr>
              <a:defRPr sz="1100" b="1">
                <a:solidFill>
                  <a:srgbClr val="FFFFFF"/>
                </a:solidFill>
                <a:latin typeface="Segoe UI"/>
              </a:defRPr>
            </a:pPr>
            <a:r>
              <a:t>Hiệu Quả Bảo Vệ:</a:t>
            </a:r>
          </a:p>
          <a:p>
            <a:pPr>
              <a:defRPr sz="980">
                <a:solidFill>
                  <a:srgbClr val="E2E8F0"/>
                </a:solidFill>
                <a:latin typeface="Segoe UI"/>
              </a:defRPr>
            </a:pPr>
            <a:r>
              <a:t>Thông tin cá nhân được giữ an toàn 100% trên máy của người dùng, không bao giờ bị rò rỉ ra ngoài.</a:t>
            </a:r>
          </a:p>
        </p:txBody>
      </p:sp>
      <p:sp>
        <p:nvSpPr>
          <p:cNvPr id="11" name="Rectangle 10"/>
          <p:cNvSpPr/>
          <p:nvPr/>
        </p:nvSpPr>
        <p:spPr>
          <a:xfrm>
            <a:off x="731520" y="6291072"/>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364224"/>
            <a:ext cx="6400800" cy="320040"/>
          </a:xfrm>
          <a:prstGeom prst="rect">
            <a:avLst/>
          </a:prstGeom>
          <a:noFill/>
        </p:spPr>
        <p:txBody>
          <a:bodyPr wrap="none" lIns="0" tIns="0" rIns="0" bIns="0">
            <a:spAutoFit/>
          </a:bodyPr>
          <a:lstStyle/>
          <a:p>
            <a:pPr>
              <a:defRPr sz="950">
                <a:solidFill>
                  <a:srgbClr val="64748B"/>
                </a:solidFill>
                <a:latin typeface="Segoe UI"/>
              </a:defRPr>
            </a:pPr>
            <a:r>
              <a:t>✦ FinTrack AI • Ứng Dụng Quản Lý Chi Tiêu Cá Nhân Tích Hợp AI  |  Nhóm 03 (ICTU)</a:t>
            </a:r>
          </a:p>
        </p:txBody>
      </p:sp>
      <p:sp>
        <p:nvSpPr>
          <p:cNvPr id="13" name="TextBox 12"/>
          <p:cNvSpPr txBox="1"/>
          <p:nvPr/>
        </p:nvSpPr>
        <p:spPr>
          <a:xfrm>
            <a:off x="8686800" y="6364224"/>
            <a:ext cx="2743200" cy="320040"/>
          </a:xfrm>
          <a:prstGeom prst="rect">
            <a:avLst/>
          </a:prstGeom>
          <a:noFill/>
        </p:spPr>
        <p:txBody>
          <a:bodyPr wrap="none" lIns="0" tIns="0" rIns="0" bIns="0">
            <a:spAutoFit/>
          </a:bodyPr>
          <a:lstStyle/>
          <a:p>
            <a:pPr algn="r">
              <a:defRPr sz="950" b="1">
                <a:solidFill>
                  <a:srgbClr val="00E5FF"/>
                </a:solidFill>
                <a:latin typeface="Segoe UI"/>
              </a:defRPr>
            </a:pPr>
            <a:r>
              <a:t>Slide 04 / 11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050" b="1">
                <a:solidFill>
                  <a:srgbClr val="00E5FF"/>
                </a:solidFill>
                <a:latin typeface="Segoe UI"/>
              </a:defRPr>
            </a:pPr>
            <a:r>
              <a:t>05 // TÍNH NĂNG NỔI BẬT 2</a:t>
            </a:r>
          </a:p>
        </p:txBody>
      </p:sp>
      <p:sp>
        <p:nvSpPr>
          <p:cNvPr id="4" name="TextBox 3"/>
          <p:cNvSpPr txBox="1"/>
          <p:nvPr/>
        </p:nvSpPr>
        <p:spPr>
          <a:xfrm>
            <a:off x="731520" y="658368"/>
            <a:ext cx="10698480" cy="502920"/>
          </a:xfrm>
          <a:prstGeom prst="rect">
            <a:avLst/>
          </a:prstGeom>
          <a:noFill/>
        </p:spPr>
        <p:txBody>
          <a:bodyPr wrap="square" lIns="0" tIns="0" rIns="0" bIns="0">
            <a:spAutoFit/>
          </a:bodyPr>
          <a:lstStyle/>
          <a:p>
            <a:pPr>
              <a:defRPr sz="2100" b="1">
                <a:solidFill>
                  <a:srgbClr val="FFFFFF"/>
                </a:solidFill>
                <a:latin typeface="Segoe UI"/>
              </a:defRPr>
            </a:pPr>
            <a:r>
              <a:t>Trợ Lý Cố Vấn 50/30/20 &amp; Rèn Luyện Thói Quen Tiết Kiệm</a:t>
            </a:r>
          </a:p>
        </p:txBody>
      </p:sp>
      <p:sp>
        <p:nvSpPr>
          <p:cNvPr id="5" name="TextBox 4"/>
          <p:cNvSpPr txBox="1"/>
          <p:nvPr/>
        </p:nvSpPr>
        <p:spPr>
          <a:xfrm>
            <a:off x="731520" y="1143000"/>
            <a:ext cx="10698480" cy="320040"/>
          </a:xfrm>
          <a:prstGeom prst="rect">
            <a:avLst/>
          </a:prstGeom>
          <a:noFill/>
        </p:spPr>
        <p:txBody>
          <a:bodyPr wrap="square" lIns="0" tIns="0" rIns="0" bIns="0">
            <a:spAutoFit/>
          </a:bodyPr>
          <a:lstStyle/>
          <a:p>
            <a:pPr>
              <a:defRPr sz="1150">
                <a:solidFill>
                  <a:srgbClr val="94A3B8"/>
                </a:solidFill>
                <a:latin typeface="Segoe UI"/>
              </a:defRPr>
            </a:pPr>
            <a:r>
              <a:t>Hướng dẫn chia tiền khoa học và biến việc ghi chép sổ sách thành trò chơi thú vị mỗi ngày</a:t>
            </a:r>
          </a:p>
        </p:txBody>
      </p:sp>
      <p:sp>
        <p:nvSpPr>
          <p:cNvPr id="6" name="Rectangle 5"/>
          <p:cNvSpPr/>
          <p:nvPr/>
        </p:nvSpPr>
        <p:spPr>
          <a:xfrm>
            <a:off x="731520" y="1508760"/>
            <a:ext cx="10728655" cy="18288"/>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91640"/>
            <a:ext cx="5257800" cy="4434840"/>
          </a:xfrm>
          <a:prstGeom prst="roundRect">
            <a:avLst/>
          </a:prstGeom>
          <a:solidFill>
            <a:srgbClr val="111827"/>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4892040" cy="4114800"/>
          </a:xfrm>
          <a:prstGeom prst="rect">
            <a:avLst/>
          </a:prstGeom>
          <a:noFill/>
        </p:spPr>
        <p:txBody>
          <a:bodyPr wrap="square">
            <a:spAutoFit/>
          </a:bodyPr>
          <a:lstStyle/>
          <a:p>
            <a:pPr>
              <a:defRPr sz="1300" b="1">
                <a:solidFill>
                  <a:srgbClr val="F59E0B"/>
                </a:solidFill>
                <a:latin typeface="Segoe UI"/>
              </a:defRPr>
            </a:pPr>
            <a:r>
              <a:t>🩺 TRỢ LÝ CỐ VẤN TÀI CHÍNH 50/30/20</a:t>
            </a:r>
          </a:p>
          <a:p>
            <a:pPr>
              <a:defRPr sz="1100" b="1">
                <a:solidFill>
                  <a:srgbClr val="FFFFFF"/>
                </a:solidFill>
                <a:latin typeface="Segoe UI"/>
              </a:defRPr>
            </a:pPr>
            <a:r>
              <a:t>Quy Tắc Vàng 50/30/20 Rất Dễ Áp Dụng:</a:t>
            </a:r>
          </a:p>
          <a:p>
            <a:pPr>
              <a:defRPr sz="1000">
                <a:solidFill>
                  <a:srgbClr val="E2E8F0"/>
                </a:solidFill>
                <a:latin typeface="Segoe UI"/>
              </a:defRPr>
            </a:pPr>
            <a:r>
              <a:t>• 50% Nhu cầu thiết yếu: Tiền ăn uống, tiền nhà, tiền xăng xe, điện nước.</a:t>
            </a:r>
            <a:br/>
            <a:r>
              <a:t>• 30% Sở thích cá nhân: Mua sắm quần áo, đi xem phim, cà phê bạn bè.</a:t>
            </a:r>
            <a:br/>
            <a:r>
              <a:t>• 20% Tiết kiệm &amp; Tích lũy: Để dành cho trường hợp khẩn cấp hoặc tương lai.</a:t>
            </a:r>
          </a:p>
          <a:p>
            <a:pPr>
              <a:defRPr sz="1100" b="1">
                <a:solidFill>
                  <a:srgbClr val="FFFFFF"/>
                </a:solidFill>
                <a:latin typeface="Segoe UI"/>
              </a:defRPr>
            </a:pPr>
            <a:r>
              <a:t>AI Tự Động Phân Tích &amp; Cảnh Báo:</a:t>
            </a:r>
          </a:p>
          <a:p>
            <a:pPr>
              <a:defRPr sz="1000">
                <a:solidFill>
                  <a:srgbClr val="E2E8F0"/>
                </a:solidFill>
                <a:latin typeface="Segoe UI"/>
              </a:defRPr>
            </a:pPr>
            <a:r>
              <a:t>• Tổng kết thu chi hàng tuần, hàng tháng xem người dùng tiêu đúng tỷ lệ chưa.</a:t>
            </a:r>
            <a:br/>
            <a:r>
              <a:t>• Phát chuông cảnh báo khi tiền ăn chơi, mua sắm vượt quá 30% thu nhập.</a:t>
            </a:r>
          </a:p>
          <a:p>
            <a:pPr>
              <a:defRPr sz="1100" b="1">
                <a:solidFill>
                  <a:srgbClr val="FFFFFF"/>
                </a:solidFill>
                <a:latin typeface="Segoe UI"/>
              </a:defRPr>
            </a:pPr>
            <a:r>
              <a:t>Đưa Ra Lời Khuyên Cụ Thể:</a:t>
            </a:r>
          </a:p>
          <a:p>
            <a:pPr>
              <a:defRPr sz="1000">
                <a:solidFill>
                  <a:srgbClr val="E2E8F0"/>
                </a:solidFill>
                <a:latin typeface="Segoe UI"/>
              </a:defRPr>
            </a:pPr>
            <a:r>
              <a:t>Gợi ý chi tiết các khoản nên cắt giảm để tháng sau không bị thâm hụt ngân sách.</a:t>
            </a:r>
          </a:p>
        </p:txBody>
      </p:sp>
      <p:sp>
        <p:nvSpPr>
          <p:cNvPr id="9" name="Rounded Rectangle 8"/>
          <p:cNvSpPr/>
          <p:nvPr/>
        </p:nvSpPr>
        <p:spPr>
          <a:xfrm>
            <a:off x="6199632" y="1691640"/>
            <a:ext cx="5257800" cy="4434840"/>
          </a:xfrm>
          <a:prstGeom prst="roundRect">
            <a:avLst/>
          </a:prstGeom>
          <a:solidFill>
            <a:srgbClr val="111827"/>
          </a:solidFill>
          <a:ln w="19050">
            <a:solidFill>
              <a:srgbClr val="00FF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82512" y="1828800"/>
            <a:ext cx="4892040" cy="4114800"/>
          </a:xfrm>
          <a:prstGeom prst="rect">
            <a:avLst/>
          </a:prstGeom>
          <a:noFill/>
        </p:spPr>
        <p:txBody>
          <a:bodyPr wrap="square">
            <a:spAutoFit/>
          </a:bodyPr>
          <a:lstStyle/>
          <a:p>
            <a:pPr>
              <a:defRPr sz="1300" b="1">
                <a:solidFill>
                  <a:srgbClr val="00FFAA"/>
                </a:solidFill>
                <a:latin typeface="Segoe UI"/>
              </a:defRPr>
            </a:pPr>
            <a:r>
              <a:t>🎮 RÈN LUYỆN THÓI QUEN NHƯ CHƠI GAME</a:t>
            </a:r>
          </a:p>
          <a:p>
            <a:pPr>
              <a:defRPr sz="1100" b="1">
                <a:solidFill>
                  <a:srgbClr val="FFFFFF"/>
                </a:solidFill>
                <a:latin typeface="Segoe UI"/>
              </a:defRPr>
            </a:pPr>
            <a:r>
              <a:t>🔥 Chuỗi Ngày Chăm Chỉ (Streak):</a:t>
            </a:r>
          </a:p>
          <a:p>
            <a:pPr>
              <a:defRPr sz="1000">
                <a:solidFill>
                  <a:srgbClr val="E2E8F0"/>
                </a:solidFill>
                <a:latin typeface="Segoe UI"/>
              </a:defRPr>
            </a:pPr>
            <a:r>
              <a:t>Đếm số ngày liên tục người dùng ghi chép chi tiêu. Càng ghi đều đặn, ngọn lửa chuỗi ngày càng cháy to để tạo động lực duy trì thói quen.</a:t>
            </a:r>
          </a:p>
          <a:p>
            <a:pPr>
              <a:defRPr sz="1100" b="1">
                <a:solidFill>
                  <a:srgbClr val="FFFFFF"/>
                </a:solidFill>
                <a:latin typeface="Segoe UI"/>
              </a:defRPr>
            </a:pPr>
            <a:r>
              <a:t>⭐ Tích Lũy Điểm Thưởng &amp; Lên Cấp:</a:t>
            </a:r>
          </a:p>
          <a:p>
            <a:pPr>
              <a:defRPr sz="1000">
                <a:solidFill>
                  <a:srgbClr val="E2E8F0"/>
                </a:solidFill>
                <a:latin typeface="Segoe UI"/>
              </a:defRPr>
            </a:pPr>
            <a:r>
              <a:t>Mỗi lần ghi chép hoặc tiết kiệm thành công được cộng điểm kinh nghiệm (XP), thăng hạng từ 'Tập Sự' lên 'Bậc Thầy Tiết Kiệm'.</a:t>
            </a:r>
          </a:p>
          <a:p>
            <a:pPr>
              <a:defRPr sz="1100" b="1">
                <a:solidFill>
                  <a:srgbClr val="FFFFFF"/>
                </a:solidFill>
                <a:latin typeface="Segoe UI"/>
              </a:defRPr>
            </a:pPr>
            <a:r>
              <a:t>🏆 Bộ 24 Huy Hiệu Thành Tích Đẹp Mắt:</a:t>
            </a:r>
          </a:p>
          <a:p>
            <a:pPr>
              <a:defRPr sz="1000">
                <a:solidFill>
                  <a:srgbClr val="E2E8F0"/>
                </a:solidFill>
                <a:latin typeface="Segoe UI"/>
              </a:defRPr>
            </a:pPr>
            <a:r>
              <a:t>• Huy hiệu 'Chiến Thần Tiết Kiệm': Đạt mục tiêu tiết kiệm 3 tháng liền.</a:t>
            </a:r>
            <a:br/>
            <a:r>
              <a:t>• Huy hiệu 'Người Tiêu Dùng Thông Thái': Không bao giờ bội chi.</a:t>
            </a:r>
            <a:br/>
            <a:r>
              <a:t>• Mở khóa các huy hiệu tạo cảm giác tự hào và thích thú.</a:t>
            </a:r>
          </a:p>
        </p:txBody>
      </p:sp>
      <p:sp>
        <p:nvSpPr>
          <p:cNvPr id="11" name="Rectangle 10"/>
          <p:cNvSpPr/>
          <p:nvPr/>
        </p:nvSpPr>
        <p:spPr>
          <a:xfrm>
            <a:off x="731520" y="6291072"/>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364224"/>
            <a:ext cx="6400800" cy="320040"/>
          </a:xfrm>
          <a:prstGeom prst="rect">
            <a:avLst/>
          </a:prstGeom>
          <a:noFill/>
        </p:spPr>
        <p:txBody>
          <a:bodyPr wrap="none" lIns="0" tIns="0" rIns="0" bIns="0">
            <a:spAutoFit/>
          </a:bodyPr>
          <a:lstStyle/>
          <a:p>
            <a:pPr>
              <a:defRPr sz="950">
                <a:solidFill>
                  <a:srgbClr val="64748B"/>
                </a:solidFill>
                <a:latin typeface="Segoe UI"/>
              </a:defRPr>
            </a:pPr>
            <a:r>
              <a:t>✦ FinTrack AI • Ứng Dụng Quản Lý Chi Tiêu Cá Nhân Tích Hợp AI  |  Nhóm 03 (ICTU)</a:t>
            </a:r>
          </a:p>
        </p:txBody>
      </p:sp>
      <p:sp>
        <p:nvSpPr>
          <p:cNvPr id="13" name="TextBox 12"/>
          <p:cNvSpPr txBox="1"/>
          <p:nvPr/>
        </p:nvSpPr>
        <p:spPr>
          <a:xfrm>
            <a:off x="8686800" y="6364224"/>
            <a:ext cx="2743200" cy="320040"/>
          </a:xfrm>
          <a:prstGeom prst="rect">
            <a:avLst/>
          </a:prstGeom>
          <a:noFill/>
        </p:spPr>
        <p:txBody>
          <a:bodyPr wrap="none" lIns="0" tIns="0" rIns="0" bIns="0">
            <a:spAutoFit/>
          </a:bodyPr>
          <a:lstStyle/>
          <a:p>
            <a:pPr algn="r">
              <a:defRPr sz="950" b="1">
                <a:solidFill>
                  <a:srgbClr val="00E5FF"/>
                </a:solidFill>
                <a:latin typeface="Segoe UI"/>
              </a:defRPr>
            </a:pPr>
            <a:r>
              <a:t>Slide 05 / 11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050" b="1">
                <a:solidFill>
                  <a:srgbClr val="00E5FF"/>
                </a:solidFill>
                <a:latin typeface="Segoe UI"/>
              </a:defRPr>
            </a:pPr>
            <a:r>
              <a:t>06 // TÍNH NĂNG NỔI BẬT 3</a:t>
            </a:r>
          </a:p>
        </p:txBody>
      </p:sp>
      <p:sp>
        <p:nvSpPr>
          <p:cNvPr id="4" name="TextBox 3"/>
          <p:cNvSpPr txBox="1"/>
          <p:nvPr/>
        </p:nvSpPr>
        <p:spPr>
          <a:xfrm>
            <a:off x="731520" y="658368"/>
            <a:ext cx="10698480" cy="502920"/>
          </a:xfrm>
          <a:prstGeom prst="rect">
            <a:avLst/>
          </a:prstGeom>
          <a:noFill/>
        </p:spPr>
        <p:txBody>
          <a:bodyPr wrap="square" lIns="0" tIns="0" rIns="0" bIns="0">
            <a:spAutoFit/>
          </a:bodyPr>
          <a:lstStyle/>
          <a:p>
            <a:pPr>
              <a:defRPr sz="2100" b="1">
                <a:solidFill>
                  <a:srgbClr val="FFFFFF"/>
                </a:solidFill>
                <a:latin typeface="Segoe UI"/>
              </a:defRPr>
            </a:pPr>
            <a:r>
              <a:t>Mô Hình 2 Loại Ví Tiền: Ví Ảo Ghi Chép &amp; Ví Tiền Thật Mua Gói</a:t>
            </a:r>
          </a:p>
        </p:txBody>
      </p:sp>
      <p:sp>
        <p:nvSpPr>
          <p:cNvPr id="5" name="TextBox 4"/>
          <p:cNvSpPr txBox="1"/>
          <p:nvPr/>
        </p:nvSpPr>
        <p:spPr>
          <a:xfrm>
            <a:off x="731520" y="1143000"/>
            <a:ext cx="10698480" cy="320040"/>
          </a:xfrm>
          <a:prstGeom prst="rect">
            <a:avLst/>
          </a:prstGeom>
          <a:noFill/>
        </p:spPr>
        <p:txBody>
          <a:bodyPr wrap="square" lIns="0" tIns="0" rIns="0" bIns="0">
            <a:spAutoFit/>
          </a:bodyPr>
          <a:lstStyle/>
          <a:p>
            <a:pPr>
              <a:defRPr sz="1150">
                <a:solidFill>
                  <a:srgbClr val="94A3B8"/>
                </a:solidFill>
                <a:latin typeface="Segoe UI"/>
              </a:defRPr>
            </a:pPr>
            <a:r>
              <a:t>Phân chia rành mạch để người dùng vừa ghi chép thoải mái, vừa nạp tiền mua dịch vụ an toàn</a:t>
            </a:r>
          </a:p>
        </p:txBody>
      </p:sp>
      <p:sp>
        <p:nvSpPr>
          <p:cNvPr id="6" name="Rectangle 5"/>
          <p:cNvSpPr/>
          <p:nvPr/>
        </p:nvSpPr>
        <p:spPr>
          <a:xfrm>
            <a:off x="731520" y="1508760"/>
            <a:ext cx="10728655" cy="18288"/>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91640"/>
            <a:ext cx="5257800" cy="3886200"/>
          </a:xfrm>
          <a:prstGeom prst="roundRect">
            <a:avLst/>
          </a:prstGeom>
          <a:solidFill>
            <a:srgbClr val="111827"/>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4892040" cy="3611880"/>
          </a:xfrm>
          <a:prstGeom prst="rect">
            <a:avLst/>
          </a:prstGeom>
          <a:noFill/>
        </p:spPr>
        <p:txBody>
          <a:bodyPr wrap="square">
            <a:spAutoFit/>
          </a:bodyPr>
          <a:lstStyle/>
          <a:p>
            <a:pPr>
              <a:defRPr sz="1250" b="1">
                <a:solidFill>
                  <a:srgbClr val="00E5FF"/>
                </a:solidFill>
                <a:latin typeface="Segoe UI"/>
              </a:defRPr>
            </a:pPr>
            <a:r>
              <a:t>🌐 1. VÍ KẾ TOÁN (VÍ ẢO GHI CHÉP THU CHI)</a:t>
            </a:r>
          </a:p>
          <a:p>
            <a:pPr>
              <a:defRPr sz="1050" b="1">
                <a:solidFill>
                  <a:srgbClr val="FFFFFF"/>
                </a:solidFill>
              </a:defRPr>
            </a:pPr>
            <a:r>
              <a:t>• Mục đích: </a:t>
            </a:r>
            <a:r>
              <a:rPr b="0">
                <a:solidFill>
                  <a:srgbClr val="E2E8F0"/>
                </a:solidFill>
              </a:rPr>
              <a:t>Dùng để theo dõi tiền tiêu hàng ngày của người dùng.</a:t>
            </a:r>
          </a:p>
          <a:p>
            <a:pPr>
              <a:defRPr sz="1050" b="1">
                <a:solidFill>
                  <a:srgbClr val="FFFFFF"/>
                </a:solidFill>
              </a:defRPr>
            </a:pPr>
            <a:r>
              <a:t>• Các ví tự tạo: </a:t>
            </a:r>
            <a:r>
              <a:rPr b="0">
                <a:solidFill>
                  <a:srgbClr val="E2E8F0"/>
                </a:solidFill>
              </a:rPr>
              <a:t>Ví MB Bank, Ví MoMo, Ví Tiền Mặt, Thẻ Ngân Hàng...</a:t>
            </a:r>
          </a:p>
          <a:p>
            <a:pPr>
              <a:defRPr sz="1050" b="1">
                <a:solidFill>
                  <a:srgbClr val="FFFFFF"/>
                </a:solidFill>
              </a:defRPr>
            </a:pPr>
            <a:r>
              <a:t>• Đặc điểm: </a:t>
            </a:r>
            <a:r>
              <a:rPr b="0">
                <a:solidFill>
                  <a:srgbClr val="E2E8F0"/>
                </a:solidFill>
              </a:rPr>
              <a:t>Số dư ảo do người dùng tự nhập và sửa theo ý muốn. Có thể tạo thêm ví mới hoặc chuyển tiền qua lại giữa các ví ảo.</a:t>
            </a:r>
          </a:p>
          <a:p>
            <a:pPr>
              <a:defRPr sz="1050" b="1">
                <a:solidFill>
                  <a:srgbClr val="FFFFFF"/>
                </a:solidFill>
              </a:defRPr>
            </a:pPr>
            <a:r>
              <a:t>• Ý nghĩa: </a:t>
            </a:r>
            <a:r>
              <a:rPr b="0">
                <a:solidFill>
                  <a:srgbClr val="E2E8F0"/>
                </a:solidFill>
              </a:rPr>
              <a:t>Hoàn toàn không liên quan đến tiền thật, người dùng thoải mái thử nghiệm ghi chép mà không lo mất tiền.</a:t>
            </a:r>
          </a:p>
        </p:txBody>
      </p:sp>
      <p:sp>
        <p:nvSpPr>
          <p:cNvPr id="9" name="Rounded Rectangle 8"/>
          <p:cNvSpPr/>
          <p:nvPr/>
        </p:nvSpPr>
        <p:spPr>
          <a:xfrm>
            <a:off x="6199632" y="1691640"/>
            <a:ext cx="5257800" cy="3886200"/>
          </a:xfrm>
          <a:prstGeom prst="roundRect">
            <a:avLst/>
          </a:prstGeom>
          <a:solidFill>
            <a:srgbClr val="111827"/>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82512" y="1828800"/>
            <a:ext cx="4892040" cy="3611880"/>
          </a:xfrm>
          <a:prstGeom prst="rect">
            <a:avLst/>
          </a:prstGeom>
          <a:noFill/>
        </p:spPr>
        <p:txBody>
          <a:bodyPr wrap="square">
            <a:spAutoFit/>
          </a:bodyPr>
          <a:lstStyle/>
          <a:p>
            <a:pPr>
              <a:defRPr sz="1250" b="1">
                <a:solidFill>
                  <a:srgbClr val="F59E0B"/>
                </a:solidFill>
                <a:latin typeface="Segoe UI"/>
              </a:defRPr>
            </a:pPr>
            <a:r>
              <a:t>💎 2. VÍ TIỀN THẬT (DÙNG ĐỂ MUA GÓI NÂNG CAO)</a:t>
            </a:r>
          </a:p>
          <a:p>
            <a:pPr>
              <a:defRPr sz="1050" b="1">
                <a:solidFill>
                  <a:srgbClr val="FFFFFF"/>
                </a:solidFill>
              </a:defRPr>
            </a:pPr>
            <a:r>
              <a:t>• Mục đích: </a:t>
            </a:r>
            <a:r>
              <a:rPr b="0">
                <a:solidFill>
                  <a:srgbClr val="E2E8F0"/>
                </a:solidFill>
              </a:rPr>
              <a:t>Dùng để thanh toán khi người dùng muốn nâng cấp gói Pro, VIP.</a:t>
            </a:r>
          </a:p>
          <a:p>
            <a:pPr>
              <a:defRPr sz="1050" b="1">
                <a:solidFill>
                  <a:srgbClr val="FFFFFF"/>
                </a:solidFill>
              </a:defRPr>
            </a:pPr>
            <a:r>
              <a:t>• Cách nạp tiền: </a:t>
            </a:r>
            <a:r>
              <a:rPr b="0">
                <a:solidFill>
                  <a:srgbClr val="E2E8F0"/>
                </a:solidFill>
              </a:rPr>
              <a:t>Chuyển khoản thật qua mã VietQR ngân hàng.</a:t>
            </a:r>
          </a:p>
          <a:p>
            <a:pPr>
              <a:defRPr sz="1050" b="1">
                <a:solidFill>
                  <a:srgbClr val="FFFFFF"/>
                </a:solidFill>
              </a:defRPr>
            </a:pPr>
            <a:r>
              <a:t>• Đặc điểm: </a:t>
            </a:r>
            <a:r>
              <a:rPr b="0">
                <a:solidFill>
                  <a:srgbClr val="E2E8F0"/>
                </a:solidFill>
              </a:rPr>
              <a:t>Số dư tiền thật được bảo mật tuyệt đối, có hóa đơn điện tử và lịch sử nạp rõ ràng từng đồng.</a:t>
            </a:r>
          </a:p>
          <a:p>
            <a:pPr>
              <a:defRPr sz="1050" b="1">
                <a:solidFill>
                  <a:srgbClr val="FFFFFF"/>
                </a:solidFill>
              </a:defRPr>
            </a:pPr>
            <a:r>
              <a:t>• Ý nghĩa: </a:t>
            </a:r>
            <a:r>
              <a:rPr b="0">
                <a:solidFill>
                  <a:srgbClr val="E2E8F0"/>
                </a:solidFill>
              </a:rPr>
              <a:t>Đảm bảo tính minh bạch, người dùng nạp bao nhiêu tiền sẽ hiển thị chính xác bấy nhiêu để mua các gói cước.</a:t>
            </a:r>
          </a:p>
        </p:txBody>
      </p:sp>
      <p:sp>
        <p:nvSpPr>
          <p:cNvPr id="11" name="Rounded Rectangle 10"/>
          <p:cNvSpPr/>
          <p:nvPr/>
        </p:nvSpPr>
        <p:spPr>
          <a:xfrm>
            <a:off x="731520" y="5687568"/>
            <a:ext cx="10728655" cy="502920"/>
          </a:xfrm>
          <a:prstGeom prst="roundRect">
            <a:avLst/>
          </a:prstGeom>
          <a:solidFill>
            <a:srgbClr val="1E293B"/>
          </a:solidFill>
          <a:ln w="15240">
            <a:solidFill>
              <a:srgbClr val="00FF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TÓM LẠI: Tách riêng 2 loại ví giúp dữ liệu ghi chép cá nhân không bị lẫn lộn với tiền nạp mua gói, đảm bảo an toàn tuyệt đối.</a:t>
            </a:r>
          </a:p>
        </p:txBody>
      </p:sp>
      <p:sp>
        <p:nvSpPr>
          <p:cNvPr id="12" name="Rectangle 11"/>
          <p:cNvSpPr/>
          <p:nvPr/>
        </p:nvSpPr>
        <p:spPr>
          <a:xfrm>
            <a:off x="731520" y="6291072"/>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6364224"/>
            <a:ext cx="6400800" cy="320040"/>
          </a:xfrm>
          <a:prstGeom prst="rect">
            <a:avLst/>
          </a:prstGeom>
          <a:noFill/>
        </p:spPr>
        <p:txBody>
          <a:bodyPr wrap="none" lIns="0" tIns="0" rIns="0" bIns="0">
            <a:spAutoFit/>
          </a:bodyPr>
          <a:lstStyle/>
          <a:p>
            <a:pPr>
              <a:defRPr sz="950">
                <a:solidFill>
                  <a:srgbClr val="64748B"/>
                </a:solidFill>
                <a:latin typeface="Segoe UI"/>
              </a:defRPr>
            </a:pPr>
            <a:r>
              <a:t>✦ FinTrack AI • Ứng Dụng Quản Lý Chi Tiêu Cá Nhân Tích Hợp AI  |  Nhóm 03 (ICTU)</a:t>
            </a:r>
          </a:p>
        </p:txBody>
      </p:sp>
      <p:sp>
        <p:nvSpPr>
          <p:cNvPr id="14" name="TextBox 13"/>
          <p:cNvSpPr txBox="1"/>
          <p:nvPr/>
        </p:nvSpPr>
        <p:spPr>
          <a:xfrm>
            <a:off x="8686800" y="6364224"/>
            <a:ext cx="2743200" cy="320040"/>
          </a:xfrm>
          <a:prstGeom prst="rect">
            <a:avLst/>
          </a:prstGeom>
          <a:noFill/>
        </p:spPr>
        <p:txBody>
          <a:bodyPr wrap="none" lIns="0" tIns="0" rIns="0" bIns="0">
            <a:spAutoFit/>
          </a:bodyPr>
          <a:lstStyle/>
          <a:p>
            <a:pPr algn="r">
              <a:defRPr sz="950" b="1">
                <a:solidFill>
                  <a:srgbClr val="00E5FF"/>
                </a:solidFill>
                <a:latin typeface="Segoe UI"/>
              </a:defRPr>
            </a:pPr>
            <a:r>
              <a:t>Slide 06 / 11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050" b="1">
                <a:solidFill>
                  <a:srgbClr val="00E5FF"/>
                </a:solidFill>
                <a:latin typeface="Segoe UI"/>
              </a:defRPr>
            </a:pPr>
            <a:r>
              <a:t>07 // TÍNH NĂNG NỔI BẬT 4</a:t>
            </a:r>
          </a:p>
        </p:txBody>
      </p:sp>
      <p:sp>
        <p:nvSpPr>
          <p:cNvPr id="4" name="TextBox 3"/>
          <p:cNvSpPr txBox="1"/>
          <p:nvPr/>
        </p:nvSpPr>
        <p:spPr>
          <a:xfrm>
            <a:off x="731520" y="658368"/>
            <a:ext cx="10698480" cy="502920"/>
          </a:xfrm>
          <a:prstGeom prst="rect">
            <a:avLst/>
          </a:prstGeom>
          <a:noFill/>
        </p:spPr>
        <p:txBody>
          <a:bodyPr wrap="square" lIns="0" tIns="0" rIns="0" bIns="0">
            <a:spAutoFit/>
          </a:bodyPr>
          <a:lstStyle/>
          <a:p>
            <a:pPr>
              <a:defRPr sz="2100" b="1">
                <a:solidFill>
                  <a:srgbClr val="FFFFFF"/>
                </a:solidFill>
                <a:latin typeface="Segoe UI"/>
              </a:defRPr>
            </a:pPr>
            <a:r>
              <a:t>Nâng Cấp &amp; Gia Hạn Gói Cước Tự Động Trong 3 Giây</a:t>
            </a:r>
          </a:p>
        </p:txBody>
      </p:sp>
      <p:sp>
        <p:nvSpPr>
          <p:cNvPr id="5" name="TextBox 4"/>
          <p:cNvSpPr txBox="1"/>
          <p:nvPr/>
        </p:nvSpPr>
        <p:spPr>
          <a:xfrm>
            <a:off x="731520" y="1143000"/>
            <a:ext cx="10698480" cy="320040"/>
          </a:xfrm>
          <a:prstGeom prst="rect">
            <a:avLst/>
          </a:prstGeom>
          <a:noFill/>
        </p:spPr>
        <p:txBody>
          <a:bodyPr wrap="square" lIns="0" tIns="0" rIns="0" bIns="0">
            <a:spAutoFit/>
          </a:bodyPr>
          <a:lstStyle/>
          <a:p>
            <a:pPr>
              <a:defRPr sz="1150">
                <a:solidFill>
                  <a:srgbClr val="94A3B8"/>
                </a:solidFill>
                <a:latin typeface="Segoe UI"/>
              </a:defRPr>
            </a:pPr>
            <a:r>
              <a:t>4 cấp độ gói cước phù hợp mọi nhu cầu và 2 cách thanh toán linh hoạt, tiện lợi</a:t>
            </a:r>
          </a:p>
        </p:txBody>
      </p:sp>
      <p:sp>
        <p:nvSpPr>
          <p:cNvPr id="6" name="Rectangle 5"/>
          <p:cNvSpPr/>
          <p:nvPr/>
        </p:nvSpPr>
        <p:spPr>
          <a:xfrm>
            <a:off x="731520" y="1508760"/>
            <a:ext cx="10728655" cy="18288"/>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91640"/>
            <a:ext cx="2523744" cy="2103120"/>
          </a:xfrm>
          <a:prstGeom prst="roundRect">
            <a:avLst/>
          </a:prstGeom>
          <a:solidFill>
            <a:srgbClr val="111827"/>
          </a:solidFill>
          <a:ln w="1905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783080"/>
            <a:ext cx="2340863" cy="1920240"/>
          </a:xfrm>
          <a:prstGeom prst="rect">
            <a:avLst/>
          </a:prstGeom>
          <a:noFill/>
        </p:spPr>
        <p:txBody>
          <a:bodyPr wrap="square">
            <a:spAutoFit/>
          </a:bodyPr>
          <a:lstStyle/>
          <a:p>
            <a:pPr algn="ctr">
              <a:defRPr sz="1150" b="1">
                <a:solidFill>
                  <a:srgbClr val="94A3B8"/>
                </a:solidFill>
                <a:latin typeface="Segoe UI"/>
              </a:defRPr>
            </a:pPr>
            <a:r>
              <a:t>GÓI MIỄN PHÍ</a:t>
            </a:r>
          </a:p>
          <a:p>
            <a:pPr algn="ctr">
              <a:defRPr sz="1250" b="1">
                <a:solidFill>
                  <a:srgbClr val="FFFFFF"/>
                </a:solidFill>
                <a:latin typeface="Segoe UI"/>
              </a:defRPr>
            </a:pPr>
            <a:r>
              <a:t>0đ (Free)</a:t>
            </a:r>
          </a:p>
          <a:p>
            <a:pPr>
              <a:defRPr sz="900">
                <a:solidFill>
                  <a:srgbClr val="E2E8F0"/>
                </a:solidFill>
                <a:latin typeface="Segoe UI"/>
              </a:defRPr>
            </a:pPr>
            <a:r>
              <a:t>• 30 lượt AI / tháng</a:t>
            </a:r>
          </a:p>
          <a:p>
            <a:pPr>
              <a:defRPr sz="900">
                <a:solidFill>
                  <a:srgbClr val="E2E8F0"/>
                </a:solidFill>
                <a:latin typeface="Segoe UI"/>
              </a:defRPr>
            </a:pPr>
            <a:r>
              <a:t>• 1 ví ghi chép cơ bản</a:t>
            </a:r>
          </a:p>
          <a:p>
            <a:pPr>
              <a:defRPr sz="900">
                <a:solidFill>
                  <a:srgbClr val="E2E8F0"/>
                </a:solidFill>
                <a:latin typeface="Segoe UI"/>
              </a:defRPr>
            </a:pPr>
            <a:r>
              <a:t>• Báo cáo thu chi chuẩn</a:t>
            </a:r>
          </a:p>
          <a:p>
            <a:pPr>
              <a:defRPr sz="900">
                <a:solidFill>
                  <a:srgbClr val="E2E8F0"/>
                </a:solidFill>
                <a:latin typeface="Segoe UI"/>
              </a:defRPr>
            </a:pPr>
            <a:r>
              <a:t>• Dành cho người mới</a:t>
            </a:r>
          </a:p>
        </p:txBody>
      </p:sp>
      <p:sp>
        <p:nvSpPr>
          <p:cNvPr id="9" name="Rounded Rectangle 8"/>
          <p:cNvSpPr/>
          <p:nvPr/>
        </p:nvSpPr>
        <p:spPr>
          <a:xfrm>
            <a:off x="3465576" y="1691640"/>
            <a:ext cx="2523744" cy="2103120"/>
          </a:xfrm>
          <a:prstGeom prst="roundRect">
            <a:avLst/>
          </a:prstGeom>
          <a:solidFill>
            <a:srgbClr val="111827"/>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57016" y="1783080"/>
            <a:ext cx="2340863" cy="1920240"/>
          </a:xfrm>
          <a:prstGeom prst="rect">
            <a:avLst/>
          </a:prstGeom>
          <a:noFill/>
        </p:spPr>
        <p:txBody>
          <a:bodyPr wrap="square">
            <a:spAutoFit/>
          </a:bodyPr>
          <a:lstStyle/>
          <a:p>
            <a:pPr algn="ctr">
              <a:defRPr sz="1150" b="1">
                <a:solidFill>
                  <a:srgbClr val="00E5FF"/>
                </a:solidFill>
                <a:latin typeface="Segoe UI"/>
              </a:defRPr>
            </a:pPr>
            <a:r>
              <a:t>GÓI PRO</a:t>
            </a:r>
          </a:p>
          <a:p>
            <a:pPr algn="ctr">
              <a:defRPr sz="1250" b="1">
                <a:solidFill>
                  <a:srgbClr val="FFFFFF"/>
                </a:solidFill>
                <a:latin typeface="Segoe UI"/>
              </a:defRPr>
            </a:pPr>
            <a:r>
              <a:t>49.000đ / tháng</a:t>
            </a:r>
          </a:p>
          <a:p>
            <a:pPr>
              <a:defRPr sz="900">
                <a:solidFill>
                  <a:srgbClr val="E2E8F0"/>
                </a:solidFill>
                <a:latin typeface="Segoe UI"/>
              </a:defRPr>
            </a:pPr>
            <a:r>
              <a:t>• 200 lượt AI / tháng</a:t>
            </a:r>
          </a:p>
          <a:p>
            <a:pPr>
              <a:defRPr sz="900">
                <a:solidFill>
                  <a:srgbClr val="E2E8F0"/>
                </a:solidFill>
                <a:latin typeface="Segoe UI"/>
              </a:defRPr>
            </a:pPr>
            <a:r>
              <a:t>• Mở nhiều ví thoải mái</a:t>
            </a:r>
          </a:p>
          <a:p>
            <a:pPr>
              <a:defRPr sz="900">
                <a:solidFill>
                  <a:srgbClr val="E2E8F0"/>
                </a:solidFill>
                <a:latin typeface="Segoe UI"/>
              </a:defRPr>
            </a:pPr>
            <a:r>
              <a:t>• Cố vấn tài chính 50/30/20</a:t>
            </a:r>
          </a:p>
          <a:p>
            <a:pPr>
              <a:defRPr sz="900">
                <a:solidFill>
                  <a:srgbClr val="E2E8F0"/>
                </a:solidFill>
                <a:latin typeface="Segoe UI"/>
              </a:defRPr>
            </a:pPr>
            <a:r>
              <a:t>• Biểu đồ phân tích chi tiết</a:t>
            </a:r>
          </a:p>
        </p:txBody>
      </p:sp>
      <p:sp>
        <p:nvSpPr>
          <p:cNvPr id="11" name="Rounded Rectangle 10"/>
          <p:cNvSpPr/>
          <p:nvPr/>
        </p:nvSpPr>
        <p:spPr>
          <a:xfrm>
            <a:off x="6199631" y="1691640"/>
            <a:ext cx="2523744" cy="2103120"/>
          </a:xfrm>
          <a:prstGeom prst="roundRect">
            <a:avLst/>
          </a:prstGeom>
          <a:solidFill>
            <a:srgbClr val="111827"/>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1071" y="1783080"/>
            <a:ext cx="2340863" cy="1920240"/>
          </a:xfrm>
          <a:prstGeom prst="rect">
            <a:avLst/>
          </a:prstGeom>
          <a:noFill/>
        </p:spPr>
        <p:txBody>
          <a:bodyPr wrap="square">
            <a:spAutoFit/>
          </a:bodyPr>
          <a:lstStyle/>
          <a:p>
            <a:pPr algn="ctr">
              <a:defRPr sz="1150" b="1">
                <a:solidFill>
                  <a:srgbClr val="8B5CF6"/>
                </a:solidFill>
                <a:latin typeface="Segoe UI"/>
              </a:defRPr>
            </a:pPr>
            <a:r>
              <a:t>GÓI PREMIUM</a:t>
            </a:r>
          </a:p>
          <a:p>
            <a:pPr algn="ctr">
              <a:defRPr sz="1250" b="1">
                <a:solidFill>
                  <a:srgbClr val="FFFFFF"/>
                </a:solidFill>
                <a:latin typeface="Segoe UI"/>
              </a:defRPr>
            </a:pPr>
            <a:r>
              <a:t>99.000đ / tháng</a:t>
            </a:r>
          </a:p>
          <a:p>
            <a:pPr>
              <a:defRPr sz="900">
                <a:solidFill>
                  <a:srgbClr val="E2E8F0"/>
                </a:solidFill>
                <a:latin typeface="Segoe UI"/>
              </a:defRPr>
            </a:pPr>
            <a:r>
              <a:t>• Dùng AI không giới hạn</a:t>
            </a:r>
          </a:p>
          <a:p>
            <a:pPr>
              <a:defRPr sz="900">
                <a:solidFill>
                  <a:srgbClr val="E2E8F0"/>
                </a:solidFill>
                <a:latin typeface="Segoe UI"/>
              </a:defRPr>
            </a:pPr>
            <a:r>
              <a:t>• Dự báo chi tiêu tương lai</a:t>
            </a:r>
          </a:p>
          <a:p>
            <a:pPr>
              <a:defRPr sz="900">
                <a:solidFill>
                  <a:srgbClr val="E2E8F0"/>
                </a:solidFill>
                <a:latin typeface="Segoe UI"/>
              </a:defRPr>
            </a:pPr>
            <a:r>
              <a:t>• Xuất file Excel / PDF</a:t>
            </a:r>
          </a:p>
          <a:p>
            <a:pPr>
              <a:defRPr sz="900">
                <a:solidFill>
                  <a:srgbClr val="E2E8F0"/>
                </a:solidFill>
                <a:latin typeface="Segoe UI"/>
              </a:defRPr>
            </a:pPr>
            <a:r>
              <a:t>• Hỗ trợ ưu tiên 24/7</a:t>
            </a:r>
          </a:p>
        </p:txBody>
      </p:sp>
      <p:sp>
        <p:nvSpPr>
          <p:cNvPr id="13" name="Rounded Rectangle 12"/>
          <p:cNvSpPr/>
          <p:nvPr/>
        </p:nvSpPr>
        <p:spPr>
          <a:xfrm>
            <a:off x="8933688" y="1691640"/>
            <a:ext cx="2523744" cy="2103120"/>
          </a:xfrm>
          <a:prstGeom prst="roundRect">
            <a:avLst/>
          </a:prstGeom>
          <a:solidFill>
            <a:srgbClr val="111827"/>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25128" y="1783080"/>
            <a:ext cx="2340863" cy="1920240"/>
          </a:xfrm>
          <a:prstGeom prst="rect">
            <a:avLst/>
          </a:prstGeom>
          <a:noFill/>
        </p:spPr>
        <p:txBody>
          <a:bodyPr wrap="square">
            <a:spAutoFit/>
          </a:bodyPr>
          <a:lstStyle/>
          <a:p>
            <a:pPr algn="ctr">
              <a:defRPr sz="1150" b="1">
                <a:solidFill>
                  <a:srgbClr val="F59E0B"/>
                </a:solidFill>
                <a:latin typeface="Segoe UI"/>
              </a:defRPr>
            </a:pPr>
            <a:r>
              <a:t>PLATINUM VIP</a:t>
            </a:r>
          </a:p>
          <a:p>
            <a:pPr algn="ctr">
              <a:defRPr sz="1250" b="1">
                <a:solidFill>
                  <a:srgbClr val="FFFFFF"/>
                </a:solidFill>
                <a:latin typeface="Segoe UI"/>
              </a:defRPr>
            </a:pPr>
            <a:r>
              <a:t>199.000đ / tháng</a:t>
            </a:r>
          </a:p>
          <a:p>
            <a:pPr>
              <a:defRPr sz="900">
                <a:solidFill>
                  <a:srgbClr val="E2E8F0"/>
                </a:solidFill>
                <a:latin typeface="Segoe UI"/>
              </a:defRPr>
            </a:pPr>
            <a:r>
              <a:t>• Trọn bộ tính năng cao nhất</a:t>
            </a:r>
          </a:p>
          <a:p>
            <a:pPr>
              <a:defRPr sz="900">
                <a:solidFill>
                  <a:srgbClr val="E2E8F0"/>
                </a:solidFill>
                <a:latin typeface="Segoe UI"/>
              </a:defRPr>
            </a:pPr>
            <a:r>
              <a:t>• Trợ lý AI chuyên sâu</a:t>
            </a:r>
          </a:p>
          <a:p>
            <a:pPr>
              <a:defRPr sz="900">
                <a:solidFill>
                  <a:srgbClr val="E2E8F0"/>
                </a:solidFill>
                <a:latin typeface="Segoe UI"/>
              </a:defRPr>
            </a:pPr>
            <a:r>
              <a:t>• Giao diện Neon Gold VIP</a:t>
            </a:r>
          </a:p>
          <a:p>
            <a:pPr>
              <a:defRPr sz="900">
                <a:solidFill>
                  <a:srgbClr val="E2E8F0"/>
                </a:solidFill>
                <a:latin typeface="Segoe UI"/>
              </a:defRPr>
            </a:pPr>
            <a:r>
              <a:t>• Giảm 20% khi mua gói năm</a:t>
            </a:r>
          </a:p>
        </p:txBody>
      </p:sp>
      <p:sp>
        <p:nvSpPr>
          <p:cNvPr id="15" name="Rounded Rectangle 14"/>
          <p:cNvSpPr/>
          <p:nvPr/>
        </p:nvSpPr>
        <p:spPr>
          <a:xfrm>
            <a:off x="731520" y="3931920"/>
            <a:ext cx="10728655" cy="2194560"/>
          </a:xfrm>
          <a:prstGeom prst="roundRect">
            <a:avLst/>
          </a:prstGeom>
          <a:solidFill>
            <a:srgbClr val="182135"/>
          </a:solidFill>
          <a:ln w="19050">
            <a:solidFill>
              <a:srgbClr val="00FF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069080"/>
            <a:ext cx="10362895" cy="1920240"/>
          </a:xfrm>
          <a:prstGeom prst="rect">
            <a:avLst/>
          </a:prstGeom>
          <a:noFill/>
        </p:spPr>
        <p:txBody>
          <a:bodyPr wrap="square">
            <a:spAutoFit/>
          </a:bodyPr>
          <a:lstStyle/>
          <a:p>
            <a:pPr>
              <a:defRPr sz="1250" b="1">
                <a:solidFill>
                  <a:srgbClr val="00FFAA"/>
                </a:solidFill>
                <a:latin typeface="Segoe UI"/>
              </a:defRPr>
            </a:pPr>
            <a:r>
              <a:t>💳 2 CÁCH GIA HẠN GÓI SIÊU TIỆN LỢI</a:t>
            </a:r>
          </a:p>
          <a:p>
            <a:pPr>
              <a:defRPr sz="1100" b="1">
                <a:solidFill>
                  <a:srgbClr val="FFFFFF"/>
                </a:solidFill>
                <a:latin typeface="Segoe UI"/>
              </a:defRPr>
            </a:pPr>
            <a:r>
              <a:t>👉 Cách 1: Trừ trực tiếp số dư Ví Tiền Thật:</a:t>
            </a:r>
          </a:p>
          <a:p>
            <a:pPr>
              <a:defRPr sz="1000">
                <a:solidFill>
                  <a:srgbClr val="E2E8F0"/>
                </a:solidFill>
                <a:latin typeface="Segoe UI"/>
              </a:defRPr>
            </a:pPr>
            <a:r>
              <a:t>   Nếu trong ví đã có sẵn tiền nạp, chỉ cần bấm 'Gia Hạn', tài khoản được nâng cấp ngay lập tức trong 0.1 giây.</a:t>
            </a:r>
          </a:p>
          <a:p>
            <a:pPr>
              <a:defRPr sz="1100" b="1">
                <a:solidFill>
                  <a:srgbClr val="FFFFFF"/>
                </a:solidFill>
                <a:latin typeface="Segoe UI"/>
              </a:defRPr>
            </a:pPr>
            <a:r>
              <a:t>👉 Cách 2: Quét mã VietQR ngân hàng (Tự động nhận diện sau 3 giây):</a:t>
            </a:r>
          </a:p>
          <a:p>
            <a:pPr>
              <a:defRPr sz="1000">
                <a:solidFill>
                  <a:srgbClr val="E2E8F0"/>
                </a:solidFill>
                <a:latin typeface="Segoe UI"/>
              </a:defRPr>
            </a:pPr>
            <a:r>
              <a:t>   Chỉ cần mở app ngân hàng quét mã QR, hệ thống tự nhận tiền và tự nâng cấp tài khoản ngay trên màn hình mà KHÔNG CẦN TẢI LẠI TRANG.</a:t>
            </a:r>
          </a:p>
        </p:txBody>
      </p:sp>
      <p:sp>
        <p:nvSpPr>
          <p:cNvPr id="17" name="Rectangle 16"/>
          <p:cNvSpPr/>
          <p:nvPr/>
        </p:nvSpPr>
        <p:spPr>
          <a:xfrm>
            <a:off x="731520" y="6291072"/>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6364224"/>
            <a:ext cx="6400800" cy="320040"/>
          </a:xfrm>
          <a:prstGeom prst="rect">
            <a:avLst/>
          </a:prstGeom>
          <a:noFill/>
        </p:spPr>
        <p:txBody>
          <a:bodyPr wrap="none" lIns="0" tIns="0" rIns="0" bIns="0">
            <a:spAutoFit/>
          </a:bodyPr>
          <a:lstStyle/>
          <a:p>
            <a:pPr>
              <a:defRPr sz="950">
                <a:solidFill>
                  <a:srgbClr val="64748B"/>
                </a:solidFill>
                <a:latin typeface="Segoe UI"/>
              </a:defRPr>
            </a:pPr>
            <a:r>
              <a:t>✦ FinTrack AI • Ứng Dụng Quản Lý Chi Tiêu Cá Nhân Tích Hợp AI  |  Nhóm 03 (ICTU)</a:t>
            </a:r>
          </a:p>
        </p:txBody>
      </p:sp>
      <p:sp>
        <p:nvSpPr>
          <p:cNvPr id="19" name="TextBox 18"/>
          <p:cNvSpPr txBox="1"/>
          <p:nvPr/>
        </p:nvSpPr>
        <p:spPr>
          <a:xfrm>
            <a:off x="8686800" y="6364224"/>
            <a:ext cx="2743200" cy="320040"/>
          </a:xfrm>
          <a:prstGeom prst="rect">
            <a:avLst/>
          </a:prstGeom>
          <a:noFill/>
        </p:spPr>
        <p:txBody>
          <a:bodyPr wrap="none" lIns="0" tIns="0" rIns="0" bIns="0">
            <a:spAutoFit/>
          </a:bodyPr>
          <a:lstStyle/>
          <a:p>
            <a:pPr algn="r">
              <a:defRPr sz="950" b="1">
                <a:solidFill>
                  <a:srgbClr val="00E5FF"/>
                </a:solidFill>
                <a:latin typeface="Segoe UI"/>
              </a:defRPr>
            </a:pPr>
            <a:r>
              <a:t>Slide 07 / 11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050" b="1">
                <a:solidFill>
                  <a:srgbClr val="00E5FF"/>
                </a:solidFill>
                <a:latin typeface="Segoe UI"/>
              </a:defRPr>
            </a:pPr>
            <a:r>
              <a:t>08 // TRANG QUẢN TRỊ ADMIN</a:t>
            </a:r>
          </a:p>
        </p:txBody>
      </p:sp>
      <p:sp>
        <p:nvSpPr>
          <p:cNvPr id="4" name="TextBox 3"/>
          <p:cNvSpPr txBox="1"/>
          <p:nvPr/>
        </p:nvSpPr>
        <p:spPr>
          <a:xfrm>
            <a:off x="731520" y="658368"/>
            <a:ext cx="10698480" cy="502920"/>
          </a:xfrm>
          <a:prstGeom prst="rect">
            <a:avLst/>
          </a:prstGeom>
          <a:noFill/>
        </p:spPr>
        <p:txBody>
          <a:bodyPr wrap="square" lIns="0" tIns="0" rIns="0" bIns="0">
            <a:spAutoFit/>
          </a:bodyPr>
          <a:lstStyle/>
          <a:p>
            <a:pPr>
              <a:defRPr sz="2100" b="1">
                <a:solidFill>
                  <a:srgbClr val="FFFFFF"/>
                </a:solidFill>
                <a:latin typeface="Segoe UI"/>
              </a:defRPr>
            </a:pPr>
            <a:r>
              <a:t>Trang Quản Trị Hệ Thống Dành Cho Admin</a:t>
            </a:r>
          </a:p>
        </p:txBody>
      </p:sp>
      <p:sp>
        <p:nvSpPr>
          <p:cNvPr id="5" name="TextBox 4"/>
          <p:cNvSpPr txBox="1"/>
          <p:nvPr/>
        </p:nvSpPr>
        <p:spPr>
          <a:xfrm>
            <a:off x="731520" y="1143000"/>
            <a:ext cx="10698480" cy="320040"/>
          </a:xfrm>
          <a:prstGeom prst="rect">
            <a:avLst/>
          </a:prstGeom>
          <a:noFill/>
        </p:spPr>
        <p:txBody>
          <a:bodyPr wrap="square" lIns="0" tIns="0" rIns="0" bIns="0">
            <a:spAutoFit/>
          </a:bodyPr>
          <a:lstStyle/>
          <a:p>
            <a:pPr>
              <a:defRPr sz="1150">
                <a:solidFill>
                  <a:srgbClr val="94A3B8"/>
                </a:solidFill>
                <a:latin typeface="Segoe UI"/>
              </a:defRPr>
            </a:pPr>
            <a:r>
              <a:t>Theo dõi toàn bộ hoạt động của trang web, quản lý người dùng và doanh thu một cách dễ dàng</a:t>
            </a:r>
          </a:p>
        </p:txBody>
      </p:sp>
      <p:sp>
        <p:nvSpPr>
          <p:cNvPr id="6" name="Rectangle 5"/>
          <p:cNvSpPr/>
          <p:nvPr/>
        </p:nvSpPr>
        <p:spPr>
          <a:xfrm>
            <a:off x="731520" y="1508760"/>
            <a:ext cx="10728655" cy="18288"/>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91640"/>
            <a:ext cx="3337560" cy="4434840"/>
          </a:xfrm>
          <a:prstGeom prst="roundRect">
            <a:avLst/>
          </a:prstGeom>
          <a:solidFill>
            <a:srgbClr val="111827"/>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28800"/>
            <a:ext cx="3063240" cy="4114800"/>
          </a:xfrm>
          <a:prstGeom prst="rect">
            <a:avLst/>
          </a:prstGeom>
          <a:noFill/>
        </p:spPr>
        <p:txBody>
          <a:bodyPr wrap="square">
            <a:spAutoFit/>
          </a:bodyPr>
          <a:lstStyle/>
          <a:p>
            <a:pPr>
              <a:defRPr sz="1200" b="1">
                <a:solidFill>
                  <a:srgbClr val="00E5FF"/>
                </a:solidFill>
                <a:latin typeface="Segoe UI"/>
              </a:defRPr>
            </a:pPr>
            <a:r>
              <a:t>📊 1. Theo Dõi Tổng Quan</a:t>
            </a:r>
          </a:p>
          <a:p>
            <a:pPr>
              <a:defRPr sz="1050" b="1">
                <a:solidFill>
                  <a:srgbClr val="FFFFFF"/>
                </a:solidFill>
                <a:latin typeface="Segoe UI"/>
              </a:defRPr>
            </a:pPr>
            <a:r>
              <a:t>✦ Doanh thu thực tế:</a:t>
            </a:r>
          </a:p>
          <a:p>
            <a:pPr>
              <a:defRPr sz="980">
                <a:solidFill>
                  <a:srgbClr val="E2E8F0"/>
                </a:solidFill>
                <a:latin typeface="Segoe UI"/>
              </a:defRPr>
            </a:pPr>
            <a:r>
              <a:t>Thống kê chính xác số tiền thu được từ các đơn nạp tiền đã thanh toán thành công.</a:t>
            </a:r>
          </a:p>
          <a:p>
            <a:pPr>
              <a:defRPr sz="1050" b="1">
                <a:solidFill>
                  <a:srgbClr val="FFFFFF"/>
                </a:solidFill>
                <a:latin typeface="Segoe UI"/>
              </a:defRPr>
            </a:pPr>
            <a:r>
              <a:t>✦ Số lượng tài khoản:</a:t>
            </a:r>
          </a:p>
          <a:p>
            <a:pPr>
              <a:defRPr sz="980">
                <a:solidFill>
                  <a:srgbClr val="E2E8F0"/>
                </a:solidFill>
                <a:latin typeface="Segoe UI"/>
              </a:defRPr>
            </a:pPr>
            <a:r>
              <a:t>Biết được có bao nhiêu người dùng đang hoạt động và tỷ lệ người dùng gói VIP.</a:t>
            </a:r>
          </a:p>
          <a:p>
            <a:pPr>
              <a:defRPr sz="1050" b="1">
                <a:solidFill>
                  <a:srgbClr val="FFFFFF"/>
                </a:solidFill>
                <a:latin typeface="Segoe UI"/>
              </a:defRPr>
            </a:pPr>
            <a:r>
              <a:t>✦ Mức dùng AI:</a:t>
            </a:r>
          </a:p>
          <a:p>
            <a:pPr>
              <a:defRPr sz="980">
                <a:solidFill>
                  <a:srgbClr val="E2E8F0"/>
                </a:solidFill>
                <a:latin typeface="Segoe UI"/>
              </a:defRPr>
            </a:pPr>
            <a:r>
              <a:t>Theo dõi số câu hỏi AI được gửi lên để kiểm soát tài nguyên hệ thống.</a:t>
            </a:r>
          </a:p>
        </p:txBody>
      </p:sp>
      <p:sp>
        <p:nvSpPr>
          <p:cNvPr id="9" name="Rounded Rectangle 8"/>
          <p:cNvSpPr/>
          <p:nvPr/>
        </p:nvSpPr>
        <p:spPr>
          <a:xfrm>
            <a:off x="4425696" y="1691640"/>
            <a:ext cx="3337560" cy="4434840"/>
          </a:xfrm>
          <a:prstGeom prst="roundRect">
            <a:avLst/>
          </a:prstGeom>
          <a:solidFill>
            <a:srgbClr val="111827"/>
          </a:solidFill>
          <a:ln w="19050">
            <a:solidFill>
              <a:srgbClr val="00FF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62856" y="1828800"/>
            <a:ext cx="3063240" cy="4114800"/>
          </a:xfrm>
          <a:prstGeom prst="rect">
            <a:avLst/>
          </a:prstGeom>
          <a:noFill/>
        </p:spPr>
        <p:txBody>
          <a:bodyPr wrap="square">
            <a:spAutoFit/>
          </a:bodyPr>
          <a:lstStyle/>
          <a:p>
            <a:pPr>
              <a:defRPr sz="1200" b="1">
                <a:solidFill>
                  <a:srgbClr val="00FFAA"/>
                </a:solidFill>
                <a:latin typeface="Segoe UI"/>
              </a:defRPr>
            </a:pPr>
            <a:r>
              <a:t>⚡ 2. Quản Lý Người Dùng &amp; Đơn Nạp</a:t>
            </a:r>
          </a:p>
          <a:p>
            <a:pPr>
              <a:defRPr sz="1050" b="1">
                <a:solidFill>
                  <a:srgbClr val="FFFFFF"/>
                </a:solidFill>
                <a:latin typeface="Segoe UI"/>
              </a:defRPr>
            </a:pPr>
            <a:r>
              <a:t>✦ Khóa tài khoản 1-Click:</a:t>
            </a:r>
          </a:p>
          <a:p>
            <a:pPr>
              <a:defRPr sz="980">
                <a:solidFill>
                  <a:srgbClr val="E2E8F0"/>
                </a:solidFill>
                <a:latin typeface="Segoe UI"/>
              </a:defRPr>
            </a:pPr>
            <a:r>
              <a:t>Khóa ngay tài khoản vi phạm hoặc có dấu hiệu gian lận chỉ bằng một nút bấm.</a:t>
            </a:r>
          </a:p>
          <a:p>
            <a:pPr>
              <a:defRPr sz="1050" b="1">
                <a:solidFill>
                  <a:srgbClr val="FFFFFF"/>
                </a:solidFill>
                <a:latin typeface="Segoe UI"/>
              </a:defRPr>
            </a:pPr>
            <a:r>
              <a:t>✦ Duyệt đơn nạp nhanh:</a:t>
            </a:r>
          </a:p>
          <a:p>
            <a:pPr>
              <a:defRPr sz="980">
                <a:solidFill>
                  <a:srgbClr val="E2E8F0"/>
                </a:solidFill>
                <a:latin typeface="Segoe UI"/>
              </a:defRPr>
            </a:pPr>
            <a:r>
              <a:t>Xem lại toàn bộ lịch sử quét mã VietQR và trạng thái cộng tiền của từng tài khoản.</a:t>
            </a:r>
          </a:p>
          <a:p>
            <a:pPr>
              <a:defRPr sz="1050" b="1">
                <a:solidFill>
                  <a:srgbClr val="FFFFFF"/>
                </a:solidFill>
                <a:latin typeface="Segoe UI"/>
              </a:defRPr>
            </a:pPr>
            <a:r>
              <a:t>✦ Lịch sử minh bạch:</a:t>
            </a:r>
          </a:p>
          <a:p>
            <a:pPr>
              <a:defRPr sz="980">
                <a:solidFill>
                  <a:srgbClr val="E2E8F0"/>
                </a:solidFill>
                <a:latin typeface="Segoe UI"/>
              </a:defRPr>
            </a:pPr>
            <a:r>
              <a:t>Lưu rõ ràng ngày giờ nạp tiền để dễ dàng đối chiếu khi cần thiết.</a:t>
            </a:r>
          </a:p>
        </p:txBody>
      </p:sp>
      <p:sp>
        <p:nvSpPr>
          <p:cNvPr id="11" name="Rounded Rectangle 10"/>
          <p:cNvSpPr/>
          <p:nvPr/>
        </p:nvSpPr>
        <p:spPr>
          <a:xfrm>
            <a:off x="8119872" y="1691640"/>
            <a:ext cx="3337560" cy="4434840"/>
          </a:xfrm>
          <a:prstGeom prst="roundRect">
            <a:avLst/>
          </a:prstGeom>
          <a:solidFill>
            <a:srgbClr val="111827"/>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57032" y="1828800"/>
            <a:ext cx="3063240" cy="4114800"/>
          </a:xfrm>
          <a:prstGeom prst="rect">
            <a:avLst/>
          </a:prstGeom>
          <a:noFill/>
        </p:spPr>
        <p:txBody>
          <a:bodyPr wrap="square">
            <a:spAutoFit/>
          </a:bodyPr>
          <a:lstStyle/>
          <a:p>
            <a:pPr>
              <a:defRPr sz="1200" b="1">
                <a:solidFill>
                  <a:srgbClr val="F59E0B"/>
                </a:solidFill>
                <a:latin typeface="Segoe UI"/>
              </a:defRPr>
            </a:pPr>
            <a:r>
              <a:t>⚙️ 3. Tùy Chỉnh Lời Nhắc AI</a:t>
            </a:r>
          </a:p>
          <a:p>
            <a:pPr>
              <a:defRPr sz="1050" b="1">
                <a:solidFill>
                  <a:srgbClr val="FFFFFF"/>
                </a:solidFill>
                <a:latin typeface="Segoe UI"/>
              </a:defRPr>
            </a:pPr>
            <a:r>
              <a:t>✦ Đổi câu lệnh cho AI:</a:t>
            </a:r>
          </a:p>
          <a:p>
            <a:pPr>
              <a:defRPr sz="980">
                <a:solidFill>
                  <a:srgbClr val="E2E8F0"/>
                </a:solidFill>
                <a:latin typeface="Segoe UI"/>
              </a:defRPr>
            </a:pPr>
            <a:r>
              <a:t>Trực tiếp sửa hướng dẫn cho trợ lý AI ngay trên web mà không cần khởi động lại máy chủ.</a:t>
            </a:r>
          </a:p>
          <a:p>
            <a:pPr>
              <a:defRPr sz="1050" b="1">
                <a:solidFill>
                  <a:srgbClr val="FFFFFF"/>
                </a:solidFill>
                <a:latin typeface="Segoe UI"/>
              </a:defRPr>
            </a:pPr>
            <a:r>
              <a:t>✦ Nhật ký bảo mật:</a:t>
            </a:r>
          </a:p>
          <a:p>
            <a:pPr>
              <a:defRPr sz="980">
                <a:solidFill>
                  <a:srgbClr val="E2E8F0"/>
                </a:solidFill>
                <a:latin typeface="Segoe UI"/>
              </a:defRPr>
            </a:pPr>
            <a:r>
              <a:t>Ghi lại mọi thao tác quan trọng của Admin như đổi mật khẩu hay duyệt tiền.</a:t>
            </a:r>
          </a:p>
          <a:p>
            <a:pPr>
              <a:defRPr sz="1050" b="1">
                <a:solidFill>
                  <a:srgbClr val="FFFFFF"/>
                </a:solidFill>
                <a:latin typeface="Segoe UI"/>
              </a:defRPr>
            </a:pPr>
            <a:r>
              <a:t>✦ An tâm vận hành:</a:t>
            </a:r>
          </a:p>
          <a:p>
            <a:pPr>
              <a:defRPr sz="980">
                <a:solidFill>
                  <a:srgbClr val="E2E8F0"/>
                </a:solidFill>
                <a:latin typeface="Segoe UI"/>
              </a:defRPr>
            </a:pPr>
            <a:r>
              <a:t>Đảm bảo trang web luôn hoạt động trơn tru và an toàn 24/7.</a:t>
            </a:r>
          </a:p>
        </p:txBody>
      </p:sp>
      <p:sp>
        <p:nvSpPr>
          <p:cNvPr id="13" name="Rectangle 12"/>
          <p:cNvSpPr/>
          <p:nvPr/>
        </p:nvSpPr>
        <p:spPr>
          <a:xfrm>
            <a:off x="731520" y="6291072"/>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6364224"/>
            <a:ext cx="6400800" cy="320040"/>
          </a:xfrm>
          <a:prstGeom prst="rect">
            <a:avLst/>
          </a:prstGeom>
          <a:noFill/>
        </p:spPr>
        <p:txBody>
          <a:bodyPr wrap="none" lIns="0" tIns="0" rIns="0" bIns="0">
            <a:spAutoFit/>
          </a:bodyPr>
          <a:lstStyle/>
          <a:p>
            <a:pPr>
              <a:defRPr sz="950">
                <a:solidFill>
                  <a:srgbClr val="64748B"/>
                </a:solidFill>
                <a:latin typeface="Segoe UI"/>
              </a:defRPr>
            </a:pPr>
            <a:r>
              <a:t>✦ FinTrack AI • Ứng Dụng Quản Lý Chi Tiêu Cá Nhân Tích Hợp AI  |  Nhóm 03 (ICTU)</a:t>
            </a:r>
          </a:p>
        </p:txBody>
      </p:sp>
      <p:sp>
        <p:nvSpPr>
          <p:cNvPr id="15" name="TextBox 14"/>
          <p:cNvSpPr txBox="1"/>
          <p:nvPr/>
        </p:nvSpPr>
        <p:spPr>
          <a:xfrm>
            <a:off x="8686800" y="6364224"/>
            <a:ext cx="2743200" cy="320040"/>
          </a:xfrm>
          <a:prstGeom prst="rect">
            <a:avLst/>
          </a:prstGeom>
          <a:noFill/>
        </p:spPr>
        <p:txBody>
          <a:bodyPr wrap="none" lIns="0" tIns="0" rIns="0" bIns="0">
            <a:spAutoFit/>
          </a:bodyPr>
          <a:lstStyle/>
          <a:p>
            <a:pPr algn="r">
              <a:defRPr sz="950" b="1">
                <a:solidFill>
                  <a:srgbClr val="00E5FF"/>
                </a:solidFill>
                <a:latin typeface="Segoe UI"/>
              </a:defRPr>
            </a:pPr>
            <a:r>
              <a:t>Slide 08 / 11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050" b="1">
                <a:solidFill>
                  <a:srgbClr val="00E5FF"/>
                </a:solidFill>
                <a:latin typeface="Segoe UI"/>
              </a:defRPr>
            </a:pPr>
            <a:r>
              <a:t>09 // KẾT QUẢ KIỂM THỬ</a:t>
            </a:r>
          </a:p>
        </p:txBody>
      </p:sp>
      <p:sp>
        <p:nvSpPr>
          <p:cNvPr id="4" name="TextBox 3"/>
          <p:cNvSpPr txBox="1"/>
          <p:nvPr/>
        </p:nvSpPr>
        <p:spPr>
          <a:xfrm>
            <a:off x="731520" y="658368"/>
            <a:ext cx="10698480" cy="502920"/>
          </a:xfrm>
          <a:prstGeom prst="rect">
            <a:avLst/>
          </a:prstGeom>
          <a:noFill/>
        </p:spPr>
        <p:txBody>
          <a:bodyPr wrap="square" lIns="0" tIns="0" rIns="0" bIns="0">
            <a:spAutoFit/>
          </a:bodyPr>
          <a:lstStyle/>
          <a:p>
            <a:pPr>
              <a:defRPr sz="2100" b="1">
                <a:solidFill>
                  <a:srgbClr val="FFFFFF"/>
                </a:solidFill>
                <a:latin typeface="Segoe UI"/>
              </a:defRPr>
            </a:pPr>
            <a:r>
              <a:t>Kết Quả Kiểm Thử Thực Tế &amp; Tốc Độ Ứng Dụng</a:t>
            </a:r>
          </a:p>
        </p:txBody>
      </p:sp>
      <p:sp>
        <p:nvSpPr>
          <p:cNvPr id="5" name="TextBox 4"/>
          <p:cNvSpPr txBox="1"/>
          <p:nvPr/>
        </p:nvSpPr>
        <p:spPr>
          <a:xfrm>
            <a:off x="731520" y="1143000"/>
            <a:ext cx="10698480" cy="320040"/>
          </a:xfrm>
          <a:prstGeom prst="rect">
            <a:avLst/>
          </a:prstGeom>
          <a:noFill/>
        </p:spPr>
        <p:txBody>
          <a:bodyPr wrap="square" lIns="0" tIns="0" rIns="0" bIns="0">
            <a:spAutoFit/>
          </a:bodyPr>
          <a:lstStyle/>
          <a:p>
            <a:pPr>
              <a:defRPr sz="1150">
                <a:solidFill>
                  <a:srgbClr val="94A3B8"/>
                </a:solidFill>
                <a:latin typeface="Segoe UI"/>
              </a:defRPr>
            </a:pPr>
            <a:r>
              <a:t>Đã kiểm tra kỹ lưỡng toàn bộ tính năng và đảm bảo trang web hoạt động hoàn hảo 100%</a:t>
            </a:r>
          </a:p>
        </p:txBody>
      </p:sp>
      <p:sp>
        <p:nvSpPr>
          <p:cNvPr id="6" name="Rectangle 5"/>
          <p:cNvSpPr/>
          <p:nvPr/>
        </p:nvSpPr>
        <p:spPr>
          <a:xfrm>
            <a:off x="731520" y="1508760"/>
            <a:ext cx="10728655" cy="18288"/>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91640"/>
            <a:ext cx="5257800" cy="4434840"/>
          </a:xfrm>
          <a:prstGeom prst="roundRect">
            <a:avLst/>
          </a:prstGeom>
          <a:solidFill>
            <a:srgbClr val="111827"/>
          </a:solidFill>
          <a:ln w="19050">
            <a:solidFill>
              <a:srgbClr val="00FF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4892040" cy="4114800"/>
          </a:xfrm>
          <a:prstGeom prst="rect">
            <a:avLst/>
          </a:prstGeom>
          <a:noFill/>
        </p:spPr>
        <p:txBody>
          <a:bodyPr wrap="square">
            <a:spAutoFit/>
          </a:bodyPr>
          <a:lstStyle/>
          <a:p>
            <a:pPr>
              <a:defRPr sz="1300" b="1">
                <a:solidFill>
                  <a:srgbClr val="00FFAA"/>
                </a:solidFill>
                <a:latin typeface="Segoe UI"/>
              </a:defRPr>
            </a:pPr>
            <a:r>
              <a:t>🧪 16 KỊCH BẢN KIỂM THỬ THỰC TẾ</a:t>
            </a:r>
          </a:p>
          <a:p>
            <a:pPr>
              <a:defRPr sz="1050" b="1">
                <a:solidFill>
                  <a:srgbClr val="FFFFFF"/>
                </a:solidFill>
                <a:latin typeface="Segoe UI"/>
              </a:defRPr>
            </a:pPr>
            <a:r>
              <a:t>1. Đăng Ký &amp; Đăng Nhập:</a:t>
            </a:r>
          </a:p>
          <a:p>
            <a:pPr>
              <a:defRPr sz="950">
                <a:solidFill>
                  <a:srgbClr val="E2E8F0"/>
                </a:solidFill>
                <a:latin typeface="Segoe UI"/>
              </a:defRPr>
            </a:pPr>
            <a:r>
              <a:t>Đăng ký tài khoản mới, lưu mật khẩu an toàn, đăng nhập nhận mã bảo mật đúng quy trình.</a:t>
            </a:r>
          </a:p>
          <a:p>
            <a:pPr>
              <a:defRPr sz="1050" b="1">
                <a:solidFill>
                  <a:srgbClr val="FFFFFF"/>
                </a:solidFill>
                <a:latin typeface="Segoe UI"/>
              </a:defRPr>
            </a:pPr>
            <a:r>
              <a:t>2. Ghi Chép Bằng Câu Nói AI:</a:t>
            </a:r>
          </a:p>
          <a:p>
            <a:pPr>
              <a:defRPr sz="950">
                <a:solidFill>
                  <a:srgbClr val="E2E8F0"/>
                </a:solidFill>
                <a:latin typeface="Segoe UI"/>
              </a:defRPr>
            </a:pPr>
            <a:r>
              <a:t>Nhập thử nhiều câu nói tiếng Việt phức tạp, AI đều hiểu đúng và lưu chuẩn xác vào danh mục.</a:t>
            </a:r>
          </a:p>
          <a:p>
            <a:pPr>
              <a:defRPr sz="1050" b="1">
                <a:solidFill>
                  <a:srgbClr val="FFFFFF"/>
                </a:solidFill>
                <a:latin typeface="Segoe UI"/>
              </a:defRPr>
            </a:pPr>
            <a:r>
              <a:t>3. Cảnh Báo Tiêu Quá Tay &amp; 50/30/20:</a:t>
            </a:r>
          </a:p>
          <a:p>
            <a:pPr>
              <a:defRPr sz="950">
                <a:solidFill>
                  <a:srgbClr val="E2E8F0"/>
                </a:solidFill>
                <a:latin typeface="Segoe UI"/>
              </a:defRPr>
            </a:pPr>
            <a:r>
              <a:t>Thử nhập chi tiêu vượt ngân sách, hệ thống lập tức phát cảnh báo đỏ nhắc nhở kịp thời.</a:t>
            </a:r>
          </a:p>
          <a:p>
            <a:pPr>
              <a:defRPr sz="1050" b="1">
                <a:solidFill>
                  <a:srgbClr val="FFFFFF"/>
                </a:solidFill>
                <a:latin typeface="Segoe UI"/>
              </a:defRPr>
            </a:pPr>
            <a:r>
              <a:t>4. Nạp Tiền &amp; Gia Hạn Gói Tự Động:</a:t>
            </a:r>
          </a:p>
          <a:p>
            <a:pPr>
              <a:defRPr sz="950">
                <a:solidFill>
                  <a:srgbClr val="E2E8F0"/>
                </a:solidFill>
                <a:latin typeface="Segoe UI"/>
              </a:defRPr>
            </a:pPr>
            <a:r>
              <a:t>Quét mã QR chuyển khoản thử, hệ thống tự động cộng tiền và nâng cấp VIP sau 3 giây.</a:t>
            </a:r>
          </a:p>
        </p:txBody>
      </p:sp>
      <p:sp>
        <p:nvSpPr>
          <p:cNvPr id="9" name="Rounded Rectangle 8"/>
          <p:cNvSpPr/>
          <p:nvPr/>
        </p:nvSpPr>
        <p:spPr>
          <a:xfrm>
            <a:off x="6199632" y="1691640"/>
            <a:ext cx="5257800" cy="4434840"/>
          </a:xfrm>
          <a:prstGeom prst="roundRect">
            <a:avLst/>
          </a:prstGeom>
          <a:solidFill>
            <a:srgbClr val="111827"/>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82512" y="1828800"/>
            <a:ext cx="4892040" cy="4114800"/>
          </a:xfrm>
          <a:prstGeom prst="rect">
            <a:avLst/>
          </a:prstGeom>
          <a:noFill/>
        </p:spPr>
        <p:txBody>
          <a:bodyPr wrap="square">
            <a:spAutoFit/>
          </a:bodyPr>
          <a:lstStyle/>
          <a:p>
            <a:pPr>
              <a:defRPr sz="1300" b="1">
                <a:solidFill>
                  <a:srgbClr val="00E5FF"/>
                </a:solidFill>
                <a:latin typeface="Segoe UI"/>
              </a:defRPr>
            </a:pPr>
            <a:r>
              <a:t>🚀 KẾT QUẢ ĐẠT ĐƯỢC &amp; HIỆU NĂNG</a:t>
            </a:r>
          </a:p>
          <a:p>
            <a:pPr>
              <a:defRPr sz="1050" b="1">
                <a:solidFill>
                  <a:srgbClr val="FFFFFF"/>
                </a:solidFill>
                <a:latin typeface="Segoe UI"/>
              </a:defRPr>
            </a:pPr>
            <a:r>
              <a:t>🏆 KẾT QUẢ KIỂM THỬ TỰ ĐỘNG:</a:t>
            </a:r>
          </a:p>
          <a:p>
            <a:pPr>
              <a:defRPr sz="950" b="1">
                <a:solidFill>
                  <a:srgbClr val="00FFAA"/>
                </a:solidFill>
                <a:latin typeface="Segoe UI"/>
              </a:defRPr>
            </a:pPr>
            <a:r>
              <a:t>✦ 100% CÁC BÀI TEST ĐẠT KẾT QUẢ CHÍNH XÁC (PASSED)</a:t>
            </a:r>
          </a:p>
          <a:p>
            <a:pPr>
              <a:defRPr sz="1050" b="1">
                <a:solidFill>
                  <a:srgbClr val="FFFFFF"/>
                </a:solidFill>
                <a:latin typeface="Segoe UI"/>
              </a:defRPr>
            </a:pPr>
            <a:r>
              <a:t>⚡ TỐC ĐỘ AI NHẬN DIỆN TIẾNG VIỆT:</a:t>
            </a:r>
          </a:p>
          <a:p>
            <a:pPr>
              <a:defRPr sz="950" b="1">
                <a:solidFill>
                  <a:srgbClr val="00E5FF"/>
                </a:solidFill>
                <a:latin typeface="Segoe UI"/>
              </a:defRPr>
            </a:pPr>
            <a:r>
              <a:t>✦ Chỉ mất khoảng 0.4 - 0.5 giây để bóc tách xong một câu nói.</a:t>
            </a:r>
          </a:p>
          <a:p>
            <a:pPr>
              <a:defRPr sz="1050" b="1">
                <a:solidFill>
                  <a:srgbClr val="FFFFFF"/>
                </a:solidFill>
                <a:latin typeface="Segoe UI"/>
              </a:defRPr>
            </a:pPr>
            <a:r>
              <a:t>⏱️ TỐC ĐỘ TẢI TRANG WEB:</a:t>
            </a:r>
          </a:p>
          <a:p>
            <a:pPr>
              <a:defRPr sz="950" b="1">
                <a:solidFill>
                  <a:srgbClr val="F59E0B"/>
                </a:solidFill>
                <a:latin typeface="Segoe UI"/>
              </a:defRPr>
            </a:pPr>
            <a:r>
              <a:t>✦ Dưới 0.1 giây nhờ công nghệ FastAPI hiện đại.</a:t>
            </a:r>
          </a:p>
          <a:p>
            <a:pPr>
              <a:defRPr sz="1050" b="1">
                <a:solidFill>
                  <a:srgbClr val="FFFFFF"/>
                </a:solidFill>
                <a:latin typeface="Segoe UI"/>
              </a:defRPr>
            </a:pPr>
            <a:r>
              <a:t>🎨 TRẢI NGHIỆM HÌNH ẢNH MƯỢT MÀ:</a:t>
            </a:r>
          </a:p>
          <a:p>
            <a:pPr>
              <a:defRPr sz="950" b="1">
                <a:solidFill>
                  <a:srgbClr val="8B5CF6"/>
                </a:solidFill>
                <a:latin typeface="Segoe UI"/>
              </a:defRPr>
            </a:pPr>
            <a:r>
              <a:t>✦ Hiệu ứng viền phát sáng Neon chạy mượt mà đạt chuẩn 120 khung hình/giây, không bị giật lag.</a:t>
            </a:r>
          </a:p>
        </p:txBody>
      </p:sp>
      <p:sp>
        <p:nvSpPr>
          <p:cNvPr id="11" name="Rectangle 10"/>
          <p:cNvSpPr/>
          <p:nvPr/>
        </p:nvSpPr>
        <p:spPr>
          <a:xfrm>
            <a:off x="731520" y="6291072"/>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364224"/>
            <a:ext cx="6400800" cy="320040"/>
          </a:xfrm>
          <a:prstGeom prst="rect">
            <a:avLst/>
          </a:prstGeom>
          <a:noFill/>
        </p:spPr>
        <p:txBody>
          <a:bodyPr wrap="none" lIns="0" tIns="0" rIns="0" bIns="0">
            <a:spAutoFit/>
          </a:bodyPr>
          <a:lstStyle/>
          <a:p>
            <a:pPr>
              <a:defRPr sz="950">
                <a:solidFill>
                  <a:srgbClr val="64748B"/>
                </a:solidFill>
                <a:latin typeface="Segoe UI"/>
              </a:defRPr>
            </a:pPr>
            <a:r>
              <a:t>✦ FinTrack AI • Ứng Dụng Quản Lý Chi Tiêu Cá Nhân Tích Hợp AI  |  Nhóm 03 (ICTU)</a:t>
            </a:r>
          </a:p>
        </p:txBody>
      </p:sp>
      <p:sp>
        <p:nvSpPr>
          <p:cNvPr id="13" name="TextBox 12"/>
          <p:cNvSpPr txBox="1"/>
          <p:nvPr/>
        </p:nvSpPr>
        <p:spPr>
          <a:xfrm>
            <a:off x="8686800" y="6364224"/>
            <a:ext cx="2743200" cy="320040"/>
          </a:xfrm>
          <a:prstGeom prst="rect">
            <a:avLst/>
          </a:prstGeom>
          <a:noFill/>
        </p:spPr>
        <p:txBody>
          <a:bodyPr wrap="none" lIns="0" tIns="0" rIns="0" bIns="0">
            <a:spAutoFit/>
          </a:bodyPr>
          <a:lstStyle/>
          <a:p>
            <a:pPr algn="r">
              <a:defRPr sz="950" b="1">
                <a:solidFill>
                  <a:srgbClr val="00E5FF"/>
                </a:solidFill>
                <a:latin typeface="Segoe UI"/>
              </a:defRPr>
            </a:pPr>
            <a:r>
              <a:t>Slide 09 / 11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050" b="1">
                <a:solidFill>
                  <a:srgbClr val="00E5FF"/>
                </a:solidFill>
                <a:latin typeface="Segoe UI"/>
              </a:defRPr>
            </a:pPr>
            <a:r>
              <a:t>10 // ĐÁNH GIÁ &amp; PHÁT TRIỂN</a:t>
            </a:r>
          </a:p>
        </p:txBody>
      </p:sp>
      <p:sp>
        <p:nvSpPr>
          <p:cNvPr id="4" name="TextBox 3"/>
          <p:cNvSpPr txBox="1"/>
          <p:nvPr/>
        </p:nvSpPr>
        <p:spPr>
          <a:xfrm>
            <a:off x="731520" y="658368"/>
            <a:ext cx="10698480" cy="502920"/>
          </a:xfrm>
          <a:prstGeom prst="rect">
            <a:avLst/>
          </a:prstGeom>
          <a:noFill/>
        </p:spPr>
        <p:txBody>
          <a:bodyPr wrap="square" lIns="0" tIns="0" rIns="0" bIns="0">
            <a:spAutoFit/>
          </a:bodyPr>
          <a:lstStyle/>
          <a:p>
            <a:pPr>
              <a:defRPr sz="2100" b="1">
                <a:solidFill>
                  <a:srgbClr val="FFFFFF"/>
                </a:solidFill>
                <a:latin typeface="Segoe UI"/>
              </a:defRPr>
            </a:pPr>
            <a:r>
              <a:t>Đánh Giá Kết Quả Đạt Được &amp; Hướng Phát Triển Tiếp Theo</a:t>
            </a:r>
          </a:p>
        </p:txBody>
      </p:sp>
      <p:sp>
        <p:nvSpPr>
          <p:cNvPr id="5" name="TextBox 4"/>
          <p:cNvSpPr txBox="1"/>
          <p:nvPr/>
        </p:nvSpPr>
        <p:spPr>
          <a:xfrm>
            <a:off x="731520" y="1143000"/>
            <a:ext cx="10698480" cy="320040"/>
          </a:xfrm>
          <a:prstGeom prst="rect">
            <a:avLst/>
          </a:prstGeom>
          <a:noFill/>
        </p:spPr>
        <p:txBody>
          <a:bodyPr wrap="square" lIns="0" tIns="0" rIns="0" bIns="0">
            <a:spAutoFit/>
          </a:bodyPr>
          <a:lstStyle/>
          <a:p>
            <a:pPr>
              <a:defRPr sz="1150">
                <a:solidFill>
                  <a:srgbClr val="94A3B8"/>
                </a:solidFill>
                <a:latin typeface="Segoe UI"/>
              </a:defRPr>
            </a:pPr>
            <a:r>
              <a:t>Nhìn lại những gì nhóm đã làm được và các tính năng dự định mở rộng trong tương lai</a:t>
            </a:r>
          </a:p>
        </p:txBody>
      </p:sp>
      <p:sp>
        <p:nvSpPr>
          <p:cNvPr id="6" name="Rectangle 5"/>
          <p:cNvSpPr/>
          <p:nvPr/>
        </p:nvSpPr>
        <p:spPr>
          <a:xfrm>
            <a:off x="731520" y="1508760"/>
            <a:ext cx="10728655" cy="18288"/>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91640"/>
            <a:ext cx="5257800" cy="4434840"/>
          </a:xfrm>
          <a:prstGeom prst="roundRect">
            <a:avLst/>
          </a:prstGeom>
          <a:solidFill>
            <a:srgbClr val="111827"/>
          </a:solidFill>
          <a:ln w="19050">
            <a:solidFill>
              <a:srgbClr val="00FF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4892040" cy="4114800"/>
          </a:xfrm>
          <a:prstGeom prst="rect">
            <a:avLst/>
          </a:prstGeom>
          <a:noFill/>
        </p:spPr>
        <p:txBody>
          <a:bodyPr wrap="square">
            <a:spAutoFit/>
          </a:bodyPr>
          <a:lstStyle/>
          <a:p>
            <a:pPr>
              <a:defRPr sz="1300" b="1">
                <a:solidFill>
                  <a:srgbClr val="00FFAA"/>
                </a:solidFill>
                <a:latin typeface="Segoe UI"/>
              </a:defRPr>
            </a:pPr>
            <a:r>
              <a:t>⭐ KẾT QUẢ NỔI BẬT ĐÃ ĐẠT ĐƯỢC</a:t>
            </a:r>
          </a:p>
          <a:p>
            <a:pPr>
              <a:defRPr sz="1100" b="1">
                <a:solidFill>
                  <a:srgbClr val="FFFFFF"/>
                </a:solidFill>
                <a:latin typeface="Segoe UI"/>
              </a:defRPr>
            </a:pPr>
            <a:r>
              <a:t>✦ Hoàn Thiện Một Trang Web Đầy Đủ:</a:t>
            </a:r>
          </a:p>
          <a:p>
            <a:pPr>
              <a:defRPr sz="980">
                <a:solidFill>
                  <a:srgbClr val="E2E8F0"/>
                </a:solidFill>
                <a:latin typeface="Segoe UI"/>
              </a:defRPr>
            </a:pPr>
            <a:r>
              <a:t>Ứng dụng chạy thực tế rất mượt mà, đầy đủ các chức năng từ ghi chép, biểu đồ đến nạp tiền tự động.</a:t>
            </a:r>
          </a:p>
          <a:p>
            <a:pPr>
              <a:defRPr sz="1100" b="1">
                <a:solidFill>
                  <a:srgbClr val="FFFFFF"/>
                </a:solidFill>
                <a:latin typeface="Segoe UI"/>
              </a:defRPr>
            </a:pPr>
            <a:r>
              <a:t>✦ AI Hiểu Tiếng Việt Cực Tốt:</a:t>
            </a:r>
          </a:p>
          <a:p>
            <a:pPr>
              <a:defRPr sz="980">
                <a:solidFill>
                  <a:srgbClr val="E2E8F0"/>
                </a:solidFill>
                <a:latin typeface="Segoe UI"/>
              </a:defRPr>
            </a:pPr>
            <a:r>
              <a:t>Nhập liệu bằng câu nói tự nhiên rất nhanh và chính xác, tự động xóa số tài khoản ngân hàng để bảo mật.</a:t>
            </a:r>
          </a:p>
          <a:p>
            <a:pPr>
              <a:defRPr sz="1100" b="1">
                <a:solidFill>
                  <a:srgbClr val="FFFFFF"/>
                </a:solidFill>
                <a:latin typeface="Segoe UI"/>
              </a:defRPr>
            </a:pPr>
            <a:r>
              <a:t>✦ Mô Hình 2 Ví Tiền Rõ Ràng:</a:t>
            </a:r>
          </a:p>
          <a:p>
            <a:pPr>
              <a:defRPr sz="980">
                <a:solidFill>
                  <a:srgbClr val="E2E8F0"/>
                </a:solidFill>
                <a:latin typeface="Segoe UI"/>
              </a:defRPr>
            </a:pPr>
            <a:r>
              <a:t>Tách riêng ví ghi chép ảo và ví nạp tiền thật, không bị lẫn lộn dữ liệu.</a:t>
            </a:r>
          </a:p>
          <a:p>
            <a:pPr>
              <a:defRPr sz="1100" b="1">
                <a:solidFill>
                  <a:srgbClr val="FFFFFF"/>
                </a:solidFill>
                <a:latin typeface="Segoe UI"/>
              </a:defRPr>
            </a:pPr>
            <a:r>
              <a:t>✦ Quét Mã QR Tự Động Hóa 100%:</a:t>
            </a:r>
          </a:p>
          <a:p>
            <a:pPr>
              <a:defRPr sz="980">
                <a:solidFill>
                  <a:srgbClr val="E2E8F0"/>
                </a:solidFill>
                <a:latin typeface="Segoe UI"/>
              </a:defRPr>
            </a:pPr>
            <a:r>
              <a:t>Tự nhận tiền chuyển khoản sau 3 giây và tự nâng cấp gói VIP mà không cần làm thủ công.</a:t>
            </a:r>
          </a:p>
        </p:txBody>
      </p:sp>
      <p:sp>
        <p:nvSpPr>
          <p:cNvPr id="9" name="Rounded Rectangle 8"/>
          <p:cNvSpPr/>
          <p:nvPr/>
        </p:nvSpPr>
        <p:spPr>
          <a:xfrm>
            <a:off x="6199632" y="1691640"/>
            <a:ext cx="5257800" cy="4434840"/>
          </a:xfrm>
          <a:prstGeom prst="roundRect">
            <a:avLst/>
          </a:prstGeom>
          <a:solidFill>
            <a:srgbClr val="111827"/>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82512" y="1828800"/>
            <a:ext cx="4892040" cy="4114800"/>
          </a:xfrm>
          <a:prstGeom prst="rect">
            <a:avLst/>
          </a:prstGeom>
          <a:noFill/>
        </p:spPr>
        <p:txBody>
          <a:bodyPr wrap="square">
            <a:spAutoFit/>
          </a:bodyPr>
          <a:lstStyle/>
          <a:p>
            <a:pPr>
              <a:defRPr sz="1300" b="1">
                <a:solidFill>
                  <a:srgbClr val="F59E0B"/>
                </a:solidFill>
                <a:latin typeface="Segoe UI"/>
              </a:defRPr>
            </a:pPr>
            <a:r>
              <a:t>🚀 HƯỚNG PHÁT TRIỂN TIẾP THEO</a:t>
            </a:r>
          </a:p>
          <a:p>
            <a:pPr>
              <a:defRPr sz="1100" b="1">
                <a:solidFill>
                  <a:srgbClr val="FFFFFF"/>
                </a:solidFill>
                <a:latin typeface="Segoe UI"/>
              </a:defRPr>
            </a:pPr>
            <a:r>
              <a:t>🔮 1. Làm Ứng Dụng Trên Điện Thoại (App Mobile):</a:t>
            </a:r>
          </a:p>
          <a:p>
            <a:pPr>
              <a:defRPr sz="980">
                <a:solidFill>
                  <a:srgbClr val="E2E8F0"/>
                </a:solidFill>
                <a:latin typeface="Segoe UI"/>
              </a:defRPr>
            </a:pPr>
            <a:r>
              <a:t>Phát triển thêm phiên bản app cho điện thoại Android và iPhone để người dùng ghi chép mọi lúc mọi nơi tiện lợi hơn.</a:t>
            </a:r>
          </a:p>
          <a:p>
            <a:pPr>
              <a:defRPr sz="1100" b="1">
                <a:solidFill>
                  <a:srgbClr val="FFFFFF"/>
                </a:solidFill>
                <a:latin typeface="Segoe UI"/>
              </a:defRPr>
            </a:pPr>
            <a:r>
              <a:t>🔮 2. Chụp Ảnh Hóa Đơn Tự Động Lưu Sổ (OCR):</a:t>
            </a:r>
          </a:p>
          <a:p>
            <a:pPr>
              <a:defRPr sz="980">
                <a:solidFill>
                  <a:srgbClr val="E2E8F0"/>
                </a:solidFill>
                <a:latin typeface="Segoe UI"/>
              </a:defRPr>
            </a:pPr>
            <a:r>
              <a:t>Chỉ cần giơ máy ảnh chụp hóa đơn ăn uống, đi siêu thị, AI sẽ tự đọc từng món hàng và lưu vào sổ chi tiêu.</a:t>
            </a:r>
          </a:p>
          <a:p>
            <a:pPr>
              <a:defRPr sz="1100" b="1">
                <a:solidFill>
                  <a:srgbClr val="FFFFFF"/>
                </a:solidFill>
                <a:latin typeface="Segoe UI"/>
              </a:defRPr>
            </a:pPr>
            <a:r>
              <a:t>🔮 3. Kết Nối Trực Tiếp Với Ngân Hàng:</a:t>
            </a:r>
          </a:p>
          <a:p>
            <a:pPr>
              <a:defRPr sz="980">
                <a:solidFill>
                  <a:srgbClr val="E2E8F0"/>
                </a:solidFill>
                <a:latin typeface="Segoe UI"/>
              </a:defRPr>
            </a:pPr>
            <a:r>
              <a:t>Tự động nhận thông báo biến động số dư từ tài khoản ngân hàng để không bao giờ quên ghi chép.</a:t>
            </a:r>
          </a:p>
        </p:txBody>
      </p:sp>
      <p:sp>
        <p:nvSpPr>
          <p:cNvPr id="11" name="Rectangle 10"/>
          <p:cNvSpPr/>
          <p:nvPr/>
        </p:nvSpPr>
        <p:spPr>
          <a:xfrm>
            <a:off x="731520" y="6291072"/>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364224"/>
            <a:ext cx="6400800" cy="320040"/>
          </a:xfrm>
          <a:prstGeom prst="rect">
            <a:avLst/>
          </a:prstGeom>
          <a:noFill/>
        </p:spPr>
        <p:txBody>
          <a:bodyPr wrap="none" lIns="0" tIns="0" rIns="0" bIns="0">
            <a:spAutoFit/>
          </a:bodyPr>
          <a:lstStyle/>
          <a:p>
            <a:pPr>
              <a:defRPr sz="950">
                <a:solidFill>
                  <a:srgbClr val="64748B"/>
                </a:solidFill>
                <a:latin typeface="Segoe UI"/>
              </a:defRPr>
            </a:pPr>
            <a:r>
              <a:t>✦ FinTrack AI • Ứng Dụng Quản Lý Chi Tiêu Cá Nhân Tích Hợp AI  |  Nhóm 03 (ICTU)</a:t>
            </a:r>
          </a:p>
        </p:txBody>
      </p:sp>
      <p:sp>
        <p:nvSpPr>
          <p:cNvPr id="13" name="TextBox 12"/>
          <p:cNvSpPr txBox="1"/>
          <p:nvPr/>
        </p:nvSpPr>
        <p:spPr>
          <a:xfrm>
            <a:off x="8686800" y="6364224"/>
            <a:ext cx="2743200" cy="320040"/>
          </a:xfrm>
          <a:prstGeom prst="rect">
            <a:avLst/>
          </a:prstGeom>
          <a:noFill/>
        </p:spPr>
        <p:txBody>
          <a:bodyPr wrap="none" lIns="0" tIns="0" rIns="0" bIns="0">
            <a:spAutoFit/>
          </a:bodyPr>
          <a:lstStyle/>
          <a:p>
            <a:pPr algn="r">
              <a:defRPr sz="950" b="1">
                <a:solidFill>
                  <a:srgbClr val="00E5FF"/>
                </a:solidFill>
                <a:latin typeface="Segoe UI"/>
              </a:defRPr>
            </a:pPr>
            <a:r>
              <a:t>Slide 10 / 11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108960" y="502920"/>
            <a:ext cx="5973775" cy="365760"/>
          </a:xfrm>
          <a:prstGeom prst="roundRect">
            <a:avLst/>
          </a:prstGeom>
          <a:solidFill>
            <a:srgbClr val="1E293B"/>
          </a:solidFill>
          <a:ln w="12700">
            <a:solidFill>
              <a:srgbClr val="00FF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FFAA"/>
                </a:solidFill>
                <a:latin typeface="Segoe UI"/>
              </a:defRPr>
            </a:pPr>
            <a:r>
              <a:t>✦ BÁO CÁO KẾT THÚC ĐỀ TÀI HỌC PHẦN AI ✦</a:t>
            </a:r>
          </a:p>
        </p:txBody>
      </p:sp>
      <p:sp>
        <p:nvSpPr>
          <p:cNvPr id="4" name="TextBox 3"/>
          <p:cNvSpPr txBox="1"/>
          <p:nvPr/>
        </p:nvSpPr>
        <p:spPr>
          <a:xfrm>
            <a:off x="731520" y="960120"/>
            <a:ext cx="10728655" cy="1143000"/>
          </a:xfrm>
          <a:prstGeom prst="rect">
            <a:avLst/>
          </a:prstGeom>
          <a:noFill/>
        </p:spPr>
        <p:txBody>
          <a:bodyPr wrap="square">
            <a:spAutoFit/>
          </a:bodyPr>
          <a:lstStyle/>
          <a:p>
            <a:pPr algn="ctr">
              <a:defRPr sz="2700" b="1">
                <a:solidFill>
                  <a:srgbClr val="FFFFFF"/>
                </a:solidFill>
                <a:latin typeface="Segoe UI"/>
              </a:defRPr>
            </a:pPr>
            <a:r>
              <a:t>XIN TRÂN TRỌNG CẢM ƠN CÔ GIÁO &amp; CÁC BẠN!</a:t>
            </a:r>
          </a:p>
          <a:p>
            <a:pPr algn="ctr">
              <a:defRPr sz="1700" b="1">
                <a:solidFill>
                  <a:srgbClr val="00E5FF"/>
                </a:solidFill>
                <a:latin typeface="Segoe UI"/>
              </a:defRPr>
            </a:pPr>
            <a:r>
              <a:t>PHIÊN HỎI ĐÁP &amp; GÓP Ý ĐỀ TÀI (Q&amp;A SESSION)</a:t>
            </a:r>
          </a:p>
        </p:txBody>
      </p:sp>
      <p:sp>
        <p:nvSpPr>
          <p:cNvPr id="5" name="Rounded Rectangle 4"/>
          <p:cNvSpPr/>
          <p:nvPr/>
        </p:nvSpPr>
        <p:spPr>
          <a:xfrm>
            <a:off x="731520" y="2240280"/>
            <a:ext cx="3337560" cy="2011680"/>
          </a:xfrm>
          <a:prstGeom prst="roundRect">
            <a:avLst/>
          </a:prstGeom>
          <a:solidFill>
            <a:srgbClr val="111827"/>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377440"/>
            <a:ext cx="3063240" cy="1737360"/>
          </a:xfrm>
          <a:prstGeom prst="rect">
            <a:avLst/>
          </a:prstGeom>
          <a:noFill/>
        </p:spPr>
        <p:txBody>
          <a:bodyPr wrap="square">
            <a:spAutoFit/>
          </a:bodyPr>
          <a:lstStyle/>
          <a:p>
            <a:pPr algn="ctr">
              <a:defRPr sz="1300" b="1">
                <a:solidFill>
                  <a:srgbClr val="FFFFFF"/>
                </a:solidFill>
                <a:latin typeface="Segoe UI"/>
              </a:defRPr>
            </a:pPr>
            <a:r>
              <a:t>✦ Đặng Quyết Thắng</a:t>
            </a:r>
          </a:p>
          <a:p>
            <a:pPr algn="ctr">
              <a:defRPr sz="1000" b="1">
                <a:solidFill>
                  <a:srgbClr val="00E5FF"/>
                </a:solidFill>
                <a:latin typeface="Segoe UI"/>
              </a:defRPr>
            </a:pPr>
            <a:r>
              <a:t>Trưởng Nhóm / Phát Triển AI &amp; Web</a:t>
            </a:r>
          </a:p>
          <a:p>
            <a:pPr algn="ctr">
              <a:defRPr sz="950">
                <a:solidFill>
                  <a:srgbClr val="94A3B8"/>
                </a:solidFill>
                <a:latin typeface="Segoe UI"/>
              </a:defRPr>
            </a:pPr>
            <a:r>
              <a:t>Email: dangquyetthang@ictu.edu.vn</a:t>
            </a:r>
          </a:p>
        </p:txBody>
      </p:sp>
      <p:sp>
        <p:nvSpPr>
          <p:cNvPr id="7" name="Rounded Rectangle 6"/>
          <p:cNvSpPr/>
          <p:nvPr/>
        </p:nvSpPr>
        <p:spPr>
          <a:xfrm>
            <a:off x="4425696" y="2240280"/>
            <a:ext cx="3337560" cy="2011680"/>
          </a:xfrm>
          <a:prstGeom prst="roundRect">
            <a:avLst/>
          </a:prstGeom>
          <a:solidFill>
            <a:srgbClr val="111827"/>
          </a:solidFill>
          <a:ln w="19050">
            <a:solidFill>
              <a:srgbClr val="00FF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62856" y="2377440"/>
            <a:ext cx="3063240" cy="1737360"/>
          </a:xfrm>
          <a:prstGeom prst="rect">
            <a:avLst/>
          </a:prstGeom>
          <a:noFill/>
        </p:spPr>
        <p:txBody>
          <a:bodyPr wrap="square">
            <a:spAutoFit/>
          </a:bodyPr>
          <a:lstStyle/>
          <a:p>
            <a:pPr algn="ctr">
              <a:defRPr sz="1300" b="1">
                <a:solidFill>
                  <a:srgbClr val="FFFFFF"/>
                </a:solidFill>
                <a:latin typeface="Segoe UI"/>
              </a:defRPr>
            </a:pPr>
            <a:r>
              <a:t>✦ Nguyễn Văn Tiến</a:t>
            </a:r>
          </a:p>
          <a:p>
            <a:pPr algn="ctr">
              <a:defRPr sz="1000" b="1">
                <a:solidFill>
                  <a:srgbClr val="00FFAA"/>
                </a:solidFill>
                <a:latin typeface="Segoe UI"/>
              </a:defRPr>
            </a:pPr>
            <a:r>
              <a:t>Thành Viên / Thiết Kế Giao Diện Web</a:t>
            </a:r>
          </a:p>
          <a:p>
            <a:pPr algn="ctr">
              <a:defRPr sz="950">
                <a:solidFill>
                  <a:srgbClr val="94A3B8"/>
                </a:solidFill>
                <a:latin typeface="Segoe UI"/>
              </a:defRPr>
            </a:pPr>
            <a:r>
              <a:t>Email: nguyenvantien@ictu.edu.vn</a:t>
            </a:r>
          </a:p>
        </p:txBody>
      </p:sp>
      <p:sp>
        <p:nvSpPr>
          <p:cNvPr id="9" name="Rounded Rectangle 8"/>
          <p:cNvSpPr/>
          <p:nvPr/>
        </p:nvSpPr>
        <p:spPr>
          <a:xfrm>
            <a:off x="8119872" y="2240280"/>
            <a:ext cx="3337560" cy="2011680"/>
          </a:xfrm>
          <a:prstGeom prst="roundRect">
            <a:avLst/>
          </a:prstGeom>
          <a:solidFill>
            <a:srgbClr val="111827"/>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57032" y="2377440"/>
            <a:ext cx="3063240" cy="1737360"/>
          </a:xfrm>
          <a:prstGeom prst="rect">
            <a:avLst/>
          </a:prstGeom>
          <a:noFill/>
        </p:spPr>
        <p:txBody>
          <a:bodyPr wrap="square">
            <a:spAutoFit/>
          </a:bodyPr>
          <a:lstStyle/>
          <a:p>
            <a:pPr algn="ctr">
              <a:defRPr sz="1300" b="1">
                <a:solidFill>
                  <a:srgbClr val="FFFFFF"/>
                </a:solidFill>
                <a:latin typeface="Segoe UI"/>
              </a:defRPr>
            </a:pPr>
            <a:r>
              <a:t>✦ Quách Minh Hiếu</a:t>
            </a:r>
          </a:p>
          <a:p>
            <a:pPr algn="ctr">
              <a:defRPr sz="1000" b="1">
                <a:solidFill>
                  <a:srgbClr val="8B5CF6"/>
                </a:solidFill>
                <a:latin typeface="Segoe UI"/>
              </a:defRPr>
            </a:pPr>
            <a:r>
              <a:t>Thành Viên / Xử Lý CSDL &amp; Backend</a:t>
            </a:r>
          </a:p>
          <a:p>
            <a:pPr algn="ctr">
              <a:defRPr sz="950">
                <a:solidFill>
                  <a:srgbClr val="94A3B8"/>
                </a:solidFill>
                <a:latin typeface="Segoe UI"/>
              </a:defRPr>
            </a:pPr>
            <a:r>
              <a:t>Email: quachminhhieu@ictu.edu.vn</a:t>
            </a:r>
          </a:p>
        </p:txBody>
      </p:sp>
      <p:sp>
        <p:nvSpPr>
          <p:cNvPr id="11" name="Rounded Rectangle 10"/>
          <p:cNvSpPr/>
          <p:nvPr/>
        </p:nvSpPr>
        <p:spPr>
          <a:xfrm>
            <a:off x="731520" y="4434840"/>
            <a:ext cx="10728655" cy="1645920"/>
          </a:xfrm>
          <a:prstGeom prst="roundRect">
            <a:avLst/>
          </a:prstGeom>
          <a:solidFill>
            <a:srgbClr val="182135"/>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572000"/>
            <a:ext cx="10362895" cy="1371600"/>
          </a:xfrm>
          <a:prstGeom prst="rect">
            <a:avLst/>
          </a:prstGeom>
          <a:noFill/>
        </p:spPr>
        <p:txBody>
          <a:bodyPr wrap="square">
            <a:spAutoFit/>
          </a:bodyPr>
          <a:lstStyle/>
          <a:p>
            <a:pPr algn="ctr">
              <a:defRPr sz="1350" b="1">
                <a:solidFill>
                  <a:srgbClr val="F59E0B"/>
                </a:solidFill>
                <a:latin typeface="Segoe UI"/>
              </a:defRPr>
            </a:pPr>
            <a:r>
              <a:t>✦ NHÓM ĐÃ SẴN SÀNG CHẠY THỬ ỨNG DỤNG TRỰC TIẾP (LIVE DEMO) ✦</a:t>
            </a:r>
          </a:p>
          <a:p>
            <a:pPr algn="ctr">
              <a:defRPr sz="1050">
                <a:solidFill>
                  <a:srgbClr val="E2E8F0"/>
                </a:solidFill>
                <a:latin typeface="Segoe UI"/>
              </a:defRPr>
            </a:pPr>
            <a:r>
              <a:t>• Trình diễn Gõ một câu nói tự nhiên để AI tự lưu giao dịch siêu tốc trong 0.5 giây.</a:t>
            </a:r>
          </a:p>
          <a:p>
            <a:pPr algn="ctr">
              <a:defRPr sz="1050">
                <a:solidFill>
                  <a:srgbClr val="E2E8F0"/>
                </a:solidFill>
                <a:latin typeface="Segoe UI"/>
              </a:defRPr>
            </a:pPr>
            <a:r>
              <a:t>• Trình diễn Quét mã VietQR chuyển khoản thật và tự động nâng cấp VIP sau 3 giây.</a:t>
            </a:r>
          </a:p>
          <a:p>
            <a:pPr algn="ctr">
              <a:defRPr sz="1100" b="1">
                <a:solidFill>
                  <a:srgbClr val="00E5FF"/>
                </a:solidFill>
                <a:latin typeface="Segoe UI"/>
              </a:defRPr>
            </a:pPr>
            <a:r>
              <a:t>Kính mời Cô giáo và các bạn đặt câu hỏi thảo luận cùng nhóm!</a:t>
            </a:r>
          </a:p>
        </p:txBody>
      </p:sp>
      <p:sp>
        <p:nvSpPr>
          <p:cNvPr id="13" name="Rectangle 12"/>
          <p:cNvSpPr/>
          <p:nvPr/>
        </p:nvSpPr>
        <p:spPr>
          <a:xfrm>
            <a:off x="731520" y="6291072"/>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6364224"/>
            <a:ext cx="6400800" cy="320040"/>
          </a:xfrm>
          <a:prstGeom prst="rect">
            <a:avLst/>
          </a:prstGeom>
          <a:noFill/>
        </p:spPr>
        <p:txBody>
          <a:bodyPr wrap="none" lIns="0" tIns="0" rIns="0" bIns="0">
            <a:spAutoFit/>
          </a:bodyPr>
          <a:lstStyle/>
          <a:p>
            <a:pPr>
              <a:defRPr sz="950">
                <a:solidFill>
                  <a:srgbClr val="64748B"/>
                </a:solidFill>
                <a:latin typeface="Segoe UI"/>
              </a:defRPr>
            </a:pPr>
            <a:r>
              <a:t>✦ FinTrack AI • Ứng Dụng Quản Lý Chi Tiêu Cá Nhân Tích Hợp AI  |  Nhóm 03 (ICTU)</a:t>
            </a:r>
          </a:p>
        </p:txBody>
      </p:sp>
      <p:sp>
        <p:nvSpPr>
          <p:cNvPr id="15" name="TextBox 14"/>
          <p:cNvSpPr txBox="1"/>
          <p:nvPr/>
        </p:nvSpPr>
        <p:spPr>
          <a:xfrm>
            <a:off x="8686800" y="6364224"/>
            <a:ext cx="2743200" cy="320040"/>
          </a:xfrm>
          <a:prstGeom prst="rect">
            <a:avLst/>
          </a:prstGeom>
          <a:noFill/>
        </p:spPr>
        <p:txBody>
          <a:bodyPr wrap="none" lIns="0" tIns="0" rIns="0" bIns="0">
            <a:spAutoFit/>
          </a:bodyPr>
          <a:lstStyle/>
          <a:p>
            <a:pPr algn="r">
              <a:defRPr sz="950" b="1">
                <a:solidFill>
                  <a:srgbClr val="00FFAA"/>
                </a:solidFill>
                <a:latin typeface="Segoe UI"/>
              </a:defRPr>
            </a:pPr>
            <a:r>
              <a:t>Slide 11 / 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