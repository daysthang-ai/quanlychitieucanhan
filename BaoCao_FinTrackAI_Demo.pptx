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1000">
                <a:solidFill>
                  <a:srgbClr val="94A3B8"/>
                </a:solidFill>
                <a:latin typeface="Segoe UI"/>
              </a:defRPr>
            </a:pPr>
            <a:r>
              <a:t>FinTrack AI • Nền Tảng Quản Lý Chi Tiêu Cá Nhân Tích Hợp AI • Nhóm 03 - ICTU 2026</a:t>
            </a:r>
          </a:p>
        </p:txBody>
      </p:sp>
      <p:sp>
        <p:nvSpPr>
          <p:cNvPr id="5" name="TextBox 4"/>
          <p:cNvSpPr txBox="1"/>
          <p:nvPr/>
        </p:nvSpPr>
        <p:spPr>
          <a:xfrm>
            <a:off x="914400" y="1188720"/>
            <a:ext cx="10362895" cy="2377440"/>
          </a:xfrm>
          <a:prstGeom prst="rect">
            <a:avLst/>
          </a:prstGeom>
          <a:noFill/>
        </p:spPr>
        <p:txBody>
          <a:bodyPr wrap="square">
            <a:spAutoFit/>
          </a:bodyPr>
          <a:lstStyle/>
          <a:p>
            <a:pPr>
              <a:spcAft>
                <a:spcPts val="800"/>
              </a:spcAft>
              <a:defRPr sz="1300" b="1">
                <a:solidFill>
                  <a:srgbClr val="F59E0B"/>
                </a:solidFill>
                <a:latin typeface="Segoe UI"/>
              </a:defRPr>
            </a:pPr>
            <a:r>
              <a:t>ĐỒ ÁN HỌC PHẦN: ỨNG DỤNG TRÍ TUỆ NHÂN TẠO (AI APPS 2026)</a:t>
            </a:r>
          </a:p>
          <a:p>
            <a:pPr>
              <a:spcAft>
                <a:spcPts val="1000"/>
              </a:spcAft>
              <a:defRPr sz="2800" b="1">
                <a:solidFill>
                  <a:srgbClr val="00F2FE"/>
                </a:solidFill>
                <a:latin typeface="Segoe UI"/>
              </a:defRPr>
            </a:pPr>
            <a:r>
              <a:t>FINTRACK AI - HỆ THỐNG QUẢN LÝ CHI TIÊU CÁ NHÂN CÓ TÍCH HỢP AI</a:t>
            </a:r>
          </a:p>
          <a:p>
            <a:pPr>
              <a:defRPr sz="1500">
                <a:solidFill>
                  <a:srgbClr val="F0F6FC"/>
                </a:solidFill>
                <a:latin typeface="Segoe UI"/>
              </a:defRPr>
            </a:pPr>
            <a:r>
              <a:t>Nền tảng Quản lý Tài chính Thông minh • Bóc tách Giao dịch Tiếng Việt • Cố vấn 50/30/20 &amp; Bảo mật Zero-PII</a:t>
            </a:r>
          </a:p>
        </p:txBody>
      </p:sp>
      <p:sp>
        <p:nvSpPr>
          <p:cNvPr id="6" name="Rounded Rectangle 5"/>
          <p:cNvSpPr/>
          <p:nvPr/>
        </p:nvSpPr>
        <p:spPr>
          <a:xfrm>
            <a:off x="914400" y="3931920"/>
            <a:ext cx="10362895" cy="219456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4114800"/>
            <a:ext cx="9814255" cy="1828800"/>
          </a:xfrm>
          <a:prstGeom prst="rect">
            <a:avLst/>
          </a:prstGeom>
          <a:noFill/>
        </p:spPr>
        <p:txBody>
          <a:bodyPr wrap="square">
            <a:spAutoFit/>
          </a:bodyPr>
          <a:lstStyle/>
          <a:p>
            <a:pPr>
              <a:spcAft>
                <a:spcPts val="1000"/>
              </a:spcAft>
              <a:defRPr b="1" sz="1400">
                <a:solidFill>
                  <a:srgbClr val="F59E0B"/>
                </a:solidFill>
              </a:defRPr>
            </a:pPr>
            <a:r>
              <a:t>👩‍🏫 Giảng viên hướng dẫn: </a:t>
            </a:r>
            <a:r>
              <a:rPr b="1">
                <a:solidFill>
                  <a:srgbClr val="F0F6FC"/>
                </a:solidFill>
              </a:rPr>
              <a:t>ThS. Hà Thị Thanh</a:t>
            </a:r>
          </a:p>
          <a:p>
            <a:pPr>
              <a:spcAft>
                <a:spcPts val="600"/>
              </a:spcAft>
              <a:defRPr b="1" sz="1400">
                <a:solidFill>
                  <a:srgbClr val="38BDF8"/>
                </a:solidFill>
              </a:defRPr>
            </a:pPr>
            <a:r>
              <a:t>👥 Nhóm sinh viên thực hiện: </a:t>
            </a:r>
            <a:r>
              <a:rPr b="1">
                <a:solidFill>
                  <a:srgbClr val="F0F6FC"/>
                </a:solidFill>
              </a:rPr>
              <a:t>Nhóm 03 - Lớp Công Nghệ Thông Tin K20 (ICTU 2026)</a:t>
            </a:r>
          </a:p>
          <a:p>
            <a:pPr>
              <a:defRPr b="1" sz="1400">
                <a:solidFill>
                  <a:srgbClr val="A855F7"/>
                </a:solidFill>
              </a:defRPr>
            </a:pPr>
            <a:r>
              <a:t>• Đặng Quyết Thắng (Trưởng nhóm)   • Nguyễn Văn Tiến   • Quách Minh Hiếu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1000">
                <a:solidFill>
                  <a:srgbClr val="94A3B8"/>
                </a:solidFill>
                <a:latin typeface="Segoe UI"/>
              </a:defRPr>
            </a:pPr>
            <a:r>
              <a:t>FinTrack AI • Nền Tảng Quản Lý Chi Tiêu Cá Nhân Tích Hợp AI • Nhóm 03 - ICTU 2026</a:t>
            </a:r>
          </a:p>
        </p:txBody>
      </p:sp>
      <p:sp>
        <p:nvSpPr>
          <p:cNvPr id="5" name="TextBox 4"/>
          <p:cNvSpPr txBox="1"/>
          <p:nvPr/>
        </p:nvSpPr>
        <p:spPr>
          <a:xfrm>
            <a:off x="731520" y="365760"/>
            <a:ext cx="10728655" cy="822960"/>
          </a:xfrm>
          <a:prstGeom prst="rect">
            <a:avLst/>
          </a:prstGeom>
          <a:noFill/>
        </p:spPr>
        <p:txBody>
          <a:bodyPr wrap="square">
            <a:spAutoFit/>
          </a:bodyPr>
          <a:lstStyle/>
          <a:p>
            <a:pPr>
              <a:defRPr sz="2400" b="1">
                <a:solidFill>
                  <a:srgbClr val="00F2FE"/>
                </a:solidFill>
                <a:latin typeface="Segoe UI"/>
              </a:defRPr>
            </a:pPr>
            <a:r>
              <a:t>01. ĐẶT VẤN ĐỀ &amp; MỤC TIÊU PHÁT TRIỂN DỰ ÁN</a:t>
            </a:r>
          </a:p>
        </p:txBody>
      </p:sp>
      <p:sp>
        <p:nvSpPr>
          <p:cNvPr id="6" name="Rounded Rectangle 5"/>
          <p:cNvSpPr/>
          <p:nvPr/>
        </p:nvSpPr>
        <p:spPr>
          <a:xfrm>
            <a:off x="731520" y="1234440"/>
            <a:ext cx="5120640" cy="5120640"/>
          </a:xfrm>
          <a:prstGeom prst="roundRect">
            <a:avLst/>
          </a:prstGeom>
          <a:solidFill>
            <a:srgbClr val="111827"/>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17320"/>
            <a:ext cx="4572000" cy="4754880"/>
          </a:xfrm>
          <a:prstGeom prst="rect">
            <a:avLst/>
          </a:prstGeom>
          <a:noFill/>
        </p:spPr>
        <p:txBody>
          <a:bodyPr wrap="square">
            <a:spAutoFit/>
          </a:bodyPr>
          <a:lstStyle/>
          <a:p>
            <a:pPr>
              <a:spcAft>
                <a:spcPts val="1400"/>
              </a:spcAft>
              <a:defRPr b="1" sz="1500">
                <a:solidFill>
                  <a:srgbClr val="F43F5E"/>
                </a:solidFill>
              </a:defRPr>
            </a:pPr>
            <a:r>
              <a:t>🚨 THỰC TRẠNG &amp; BẤT CẬP APP TRUYỀN THỐNG</a:t>
            </a:r>
          </a:p>
          <a:p>
            <a:pPr>
              <a:spcAft>
                <a:spcPts val="800"/>
              </a:spcAft>
              <a:defRPr b="1" sz="1300">
                <a:solidFill>
                  <a:srgbClr val="F59E0B"/>
                </a:solidFill>
              </a:defRPr>
            </a:pPr>
            <a:r>
              <a:t>• Bùng nổ thanh toán không tiền mặt: </a:t>
            </a:r>
            <a:r>
              <a:rPr b="0" sz="1200">
                <a:solidFill>
                  <a:srgbClr val="F0F6FC"/>
                </a:solidFill>
              </a:rPr>
              <a:t>QR Code, MoMo, thẻ tín dụng khiến người trẻ tiêu tiền nhanh nhưng khó kiểm soát số dư ròng.</a:t>
            </a:r>
          </a:p>
          <a:p>
            <a:pPr>
              <a:spcAft>
                <a:spcPts val="800"/>
              </a:spcAft>
              <a:defRPr b="1" sz="1300">
                <a:solidFill>
                  <a:srgbClr val="F59E0B"/>
                </a:solidFill>
              </a:defRPr>
            </a:pPr>
            <a:r>
              <a:t>• Nhập liệu thủ công rườm rà: </a:t>
            </a:r>
            <a:r>
              <a:rPr b="0" sz="1200">
                <a:solidFill>
                  <a:srgbClr val="F0F6FC"/>
                </a:solidFill>
              </a:rPr>
              <a:t>Gõ từng con số, chọn danh mục mất 1-2 phút khiến 85% người dùng bỏ cuộc sau 1-2 tuần.</a:t>
            </a:r>
          </a:p>
          <a:p>
            <a:pPr>
              <a:spcAft>
                <a:spcPts val="800"/>
              </a:spcAft>
              <a:defRPr b="1" sz="1300">
                <a:solidFill>
                  <a:srgbClr val="F59E0B"/>
                </a:solidFill>
              </a:defRPr>
            </a:pPr>
            <a:r>
              <a:t>• Thiếu tính cố vấn thông minh: </a:t>
            </a:r>
            <a:r>
              <a:rPr b="0" sz="1200">
                <a:solidFill>
                  <a:srgbClr val="F0F6FC"/>
                </a:solidFill>
              </a:rPr>
              <a:t>Ứng dụng cũ chỉ đóng vai trò 'sổ ghi chép thụ động', không chỉ ra được nguyên nhân bội chi.</a:t>
            </a:r>
          </a:p>
          <a:p>
            <a:pPr>
              <a:spcAft>
                <a:spcPts val="800"/>
              </a:spcAft>
              <a:defRPr b="1" sz="1300">
                <a:solidFill>
                  <a:srgbClr val="F59E0B"/>
                </a:solidFill>
              </a:defRPr>
            </a:pPr>
            <a:r>
              <a:t>• Lo ngại rủi ro rò rỉ dữ liệu cá nhân: </a:t>
            </a:r>
            <a:r>
              <a:rPr b="0" sz="1200">
                <a:solidFill>
                  <a:srgbClr val="F0F6FC"/>
                </a:solidFill>
              </a:rPr>
              <a:t>Người dùng e ngại chia sẻ thông tin sao kê và số tài khoản ngân hàng nhạy cảm.</a:t>
            </a:r>
          </a:p>
        </p:txBody>
      </p:sp>
      <p:sp>
        <p:nvSpPr>
          <p:cNvPr id="8" name="Rounded Rectangle 7"/>
          <p:cNvSpPr/>
          <p:nvPr/>
        </p:nvSpPr>
        <p:spPr>
          <a:xfrm>
            <a:off x="6217920" y="1234440"/>
            <a:ext cx="5120640" cy="5120640"/>
          </a:xfrm>
          <a:prstGeom prst="roundRect">
            <a:avLst/>
          </a:prstGeom>
          <a:solidFill>
            <a:srgbClr val="111827"/>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17320"/>
            <a:ext cx="4572000" cy="4754880"/>
          </a:xfrm>
          <a:prstGeom prst="rect">
            <a:avLst/>
          </a:prstGeom>
          <a:noFill/>
        </p:spPr>
        <p:txBody>
          <a:bodyPr wrap="square">
            <a:spAutoFit/>
          </a:bodyPr>
          <a:lstStyle/>
          <a:p>
            <a:pPr>
              <a:spcAft>
                <a:spcPts val="1400"/>
              </a:spcAft>
              <a:defRPr b="1" sz="1500">
                <a:solidFill>
                  <a:srgbClr val="00F2FE"/>
                </a:solidFill>
              </a:defRPr>
            </a:pPr>
            <a:r>
              <a:t>🎯 GIẢI PHÁP ĐỘT PHÁ CỦA FINTRACK AI</a:t>
            </a:r>
          </a:p>
          <a:p>
            <a:pPr>
              <a:spcAft>
                <a:spcPts val="800"/>
              </a:spcAft>
              <a:defRPr b="1" sz="1300">
                <a:solidFill>
                  <a:srgbClr val="10B981"/>
                </a:solidFill>
              </a:defRPr>
            </a:pPr>
            <a:r>
              <a:t>• Tự động hóa ghi chép qua AI tiếng Việt: </a:t>
            </a:r>
            <a:r>
              <a:rPr b="0" sz="1200">
                <a:solidFill>
                  <a:srgbClr val="F0F6FC"/>
                </a:solidFill>
              </a:rPr>
              <a:t>FinTrack AI Parser bóc tách câu nói tự nhiên thành giao dịch có cấu trúc trong ~400ms.</a:t>
            </a:r>
          </a:p>
          <a:p>
            <a:pPr>
              <a:spcAft>
                <a:spcPts val="800"/>
              </a:spcAft>
              <a:defRPr b="1" sz="1300">
                <a:solidFill>
                  <a:srgbClr val="10B981"/>
                </a:solidFill>
              </a:defRPr>
            </a:pPr>
            <a:r>
              <a:t>• Cố vấn tài chính chuẩn 50/30/20: </a:t>
            </a:r>
            <a:r>
              <a:rPr b="0" sz="1200">
                <a:solidFill>
                  <a:srgbClr val="F0F6FC"/>
                </a:solidFill>
              </a:rPr>
              <a:t>Chẩn đoán sức khỏe dòng tiền, phân bổ quỹ thiết yếu, giải trí, tích lũy và cảnh báo vượt hạn mức.</a:t>
            </a:r>
          </a:p>
          <a:p>
            <a:pPr>
              <a:spcAft>
                <a:spcPts val="800"/>
              </a:spcAft>
              <a:defRPr b="1" sz="1300">
                <a:solidFill>
                  <a:srgbClr val="10B981"/>
                </a:solidFill>
              </a:defRPr>
            </a:pPr>
            <a:r>
              <a:t>• Bảo mật tuyệt đối Zero-PII Leakage: </a:t>
            </a:r>
            <a:r>
              <a:rPr b="0" sz="1200">
                <a:solidFill>
                  <a:srgbClr val="F0F6FC"/>
                </a:solidFill>
              </a:rPr>
              <a:t>Khử 100% định danh tài khoản, số thẻ trước khi đưa vào mô hình AI; từ chối truy vấn người khác.</a:t>
            </a:r>
          </a:p>
          <a:p>
            <a:pPr>
              <a:spcAft>
                <a:spcPts val="800"/>
              </a:spcAft>
              <a:defRPr b="1" sz="1300">
                <a:solidFill>
                  <a:srgbClr val="10B981"/>
                </a:solidFill>
              </a:defRPr>
            </a:pPr>
            <a:r>
              <a:t>• Gamification duy trì thói quen: </a:t>
            </a:r>
            <a:r>
              <a:rPr b="0" sz="1200">
                <a:solidFill>
                  <a:srgbClr val="F0F6FC"/>
                </a:solidFill>
              </a:rPr>
              <a:t>Streak chuỗi ngày kỷ luật, thanh tiến trình 6 bậc Level Road Map và 24 huy hiệu vinh danh.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1000">
                <a:solidFill>
                  <a:srgbClr val="94A3B8"/>
                </a:solidFill>
                <a:latin typeface="Segoe UI"/>
              </a:defRPr>
            </a:pPr>
            <a:r>
              <a:t>FinTrack AI • Nền Tảng Quản Lý Chi Tiêu Cá Nhân Tích Hợp AI • Nhóm 03 - ICTU 2026</a:t>
            </a:r>
          </a:p>
        </p:txBody>
      </p:sp>
      <p:sp>
        <p:nvSpPr>
          <p:cNvPr id="5" name="TextBox 4"/>
          <p:cNvSpPr txBox="1"/>
          <p:nvPr/>
        </p:nvSpPr>
        <p:spPr>
          <a:xfrm>
            <a:off x="731520" y="365760"/>
            <a:ext cx="10728655" cy="822960"/>
          </a:xfrm>
          <a:prstGeom prst="rect">
            <a:avLst/>
          </a:prstGeom>
          <a:noFill/>
        </p:spPr>
        <p:txBody>
          <a:bodyPr wrap="square">
            <a:spAutoFit/>
          </a:bodyPr>
          <a:lstStyle/>
          <a:p>
            <a:pPr>
              <a:defRPr sz="2400" b="1">
                <a:solidFill>
                  <a:srgbClr val="00F2FE"/>
                </a:solidFill>
                <a:latin typeface="Segoe UI"/>
              </a:defRPr>
            </a:pPr>
            <a:r>
              <a:t>02. KIẾN TRÚC PHÂN TẦNG &amp; THIẾT KẾ CSDL 9 BẢNG (3NF)</a:t>
            </a:r>
          </a:p>
        </p:txBody>
      </p:sp>
      <p:sp>
        <p:nvSpPr>
          <p:cNvPr id="6" name="Rounded Rectangle 5"/>
          <p:cNvSpPr/>
          <p:nvPr/>
        </p:nvSpPr>
        <p:spPr>
          <a:xfrm>
            <a:off x="731520" y="1234440"/>
            <a:ext cx="3337560" cy="5120640"/>
          </a:xfrm>
          <a:prstGeom prst="roundRect">
            <a:avLst/>
          </a:prstGeom>
          <a:solidFill>
            <a:srgbClr val="111827"/>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71600"/>
            <a:ext cx="3063240" cy="4846320"/>
          </a:xfrm>
          <a:prstGeom prst="rect">
            <a:avLst/>
          </a:prstGeom>
          <a:noFill/>
        </p:spPr>
        <p:txBody>
          <a:bodyPr wrap="square">
            <a:spAutoFit/>
          </a:bodyPr>
          <a:lstStyle/>
          <a:p>
            <a:pPr>
              <a:spcAft>
                <a:spcPts val="1000"/>
              </a:spcAft>
              <a:defRPr b="1" sz="1400">
                <a:solidFill>
                  <a:srgbClr val="00F2FE"/>
                </a:solidFill>
              </a:defRPr>
            </a:pPr>
            <a:r>
              <a:t>🏛️ KIẾN TRÚC PHÂN TẦNG</a:t>
            </a:r>
          </a:p>
          <a:p>
            <a:pPr>
              <a:spcAft>
                <a:spcPts val="600"/>
              </a:spcAft>
              <a:defRPr b="1" sz="1200">
                <a:solidFill>
                  <a:srgbClr val="F59E0B"/>
                </a:solidFill>
              </a:defRPr>
            </a:pPr>
            <a:r>
              <a:t>• Frontend Client (SPA): </a:t>
            </a:r>
            <a:r>
              <a:rPr b="0" sz="1150">
                <a:solidFill>
                  <a:srgbClr val="F0F6FC"/>
                </a:solidFill>
              </a:rPr>
              <a:t>HTML5, Tailwind CSS, Dark Cyber Glassmorphism, Chart.js, ES6 Modules.</a:t>
            </a:r>
          </a:p>
          <a:p>
            <a:pPr>
              <a:spcAft>
                <a:spcPts val="600"/>
              </a:spcAft>
              <a:defRPr b="1" sz="1200">
                <a:solidFill>
                  <a:srgbClr val="F59E0B"/>
                </a:solidFill>
              </a:defRPr>
            </a:pPr>
            <a:r>
              <a:t>• FastAPI Backend: </a:t>
            </a:r>
            <a:r>
              <a:rPr b="0" sz="1150">
                <a:solidFill>
                  <a:srgbClr val="F0F6FC"/>
                </a:solidFill>
              </a:rPr>
              <a:t>Asynchronous Python 3.12, Pydantic v2, JWT Security, OAuth2, Bcrypt.</a:t>
            </a:r>
          </a:p>
          <a:p>
            <a:pPr>
              <a:spcAft>
                <a:spcPts val="600"/>
              </a:spcAft>
              <a:defRPr b="1" sz="1200">
                <a:solidFill>
                  <a:srgbClr val="F59E0B"/>
                </a:solidFill>
              </a:defRPr>
            </a:pPr>
            <a:r>
              <a:t>• Database Engine: </a:t>
            </a:r>
            <a:r>
              <a:rPr b="0" sz="1150">
                <a:solidFill>
                  <a:srgbClr val="F0F6FC"/>
                </a:solidFill>
              </a:rPr>
              <a:t>SQLite WAL Mode (Local) / PostgreSQL sẵn sàng, SQLAlchemy ORM 2.0.</a:t>
            </a:r>
          </a:p>
          <a:p>
            <a:pPr>
              <a:spcAft>
                <a:spcPts val="600"/>
              </a:spcAft>
              <a:defRPr b="1" sz="1200">
                <a:solidFill>
                  <a:srgbClr val="F59E0B"/>
                </a:solidFill>
              </a:defRPr>
            </a:pPr>
            <a:r>
              <a:t>• AI Micro-Engine: </a:t>
            </a:r>
            <a:r>
              <a:rPr b="0" sz="1150">
                <a:solidFill>
                  <a:srgbClr val="F0F6FC"/>
                </a:solidFill>
              </a:rPr>
              <a:t>Google Gemini 1.5 Pro / Flash kết hợp Rule Engine NLP tiếng Việt nội bộ.</a:t>
            </a:r>
          </a:p>
        </p:txBody>
      </p:sp>
      <p:sp>
        <p:nvSpPr>
          <p:cNvPr id="8" name="Rounded Rectangle 7"/>
          <p:cNvSpPr/>
          <p:nvPr/>
        </p:nvSpPr>
        <p:spPr>
          <a:xfrm>
            <a:off x="4389120" y="1234440"/>
            <a:ext cx="3337560" cy="512064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371600"/>
            <a:ext cx="3063240" cy="4846320"/>
          </a:xfrm>
          <a:prstGeom prst="rect">
            <a:avLst/>
          </a:prstGeom>
          <a:noFill/>
        </p:spPr>
        <p:txBody>
          <a:bodyPr wrap="square">
            <a:spAutoFit/>
          </a:bodyPr>
          <a:lstStyle/>
          <a:p>
            <a:pPr>
              <a:spcAft>
                <a:spcPts val="1000"/>
              </a:spcAft>
              <a:defRPr b="1" sz="1400">
                <a:solidFill>
                  <a:srgbClr val="A855F7"/>
                </a:solidFill>
              </a:defRPr>
            </a:pPr>
            <a:r>
              <a:t>💳 ĐA VÍ 2 TẦNG (2-SCOPE)</a:t>
            </a:r>
          </a:p>
          <a:p>
            <a:pPr>
              <a:spcAft>
                <a:spcPts val="800"/>
              </a:spcAft>
              <a:defRPr b="1" sz="1200">
                <a:solidFill>
                  <a:srgbClr val="EC4899"/>
                </a:solidFill>
              </a:defRPr>
            </a:pPr>
            <a:r>
              <a:t>• Tầng 1: Ví Kế Toán Ảo (virtual): </a:t>
            </a:r>
            <a:r>
              <a:rPr b="0" sz="1150">
                <a:solidFill>
                  <a:srgbClr val="F0F6FC"/>
                </a:solidFill>
              </a:rPr>
              <a:t>Phục vụ ghi chép dòng tiền chi tiêu hàng ngày (Ví tiền mặt, MB Bank, MoMo, Techcombank). Không phát sinh tiền tệ thật.</a:t>
            </a:r>
          </a:p>
          <a:p>
            <a:pPr>
              <a:spcAft>
                <a:spcPts val="800"/>
              </a:spcAft>
              <a:defRPr b="1" sz="1200">
                <a:solidFill>
                  <a:srgbClr val="EC4899"/>
                </a:solidFill>
              </a:defRPr>
            </a:pPr>
            <a:r>
              <a:t>• Tầng 2: Ví Tiền Thật (real): </a:t>
            </a:r>
            <a:r>
              <a:rPr b="0" sz="1150">
                <a:solidFill>
                  <a:srgbClr val="F0F6FC"/>
                </a:solidFill>
              </a:rPr>
              <a:t>Lưu trữ số dư nạp từ cổng ngân hàng VietQR MB Bank để thanh toán / gia hạn các gói dịch vụ VIP.</a:t>
            </a:r>
          </a:p>
          <a:p>
            <a:pPr>
              <a:spcAft>
                <a:spcPts val="800"/>
              </a:spcAft>
              <a:defRPr b="1" sz="1200">
                <a:solidFill>
                  <a:srgbClr val="EC4899"/>
                </a:solidFill>
              </a:defRPr>
            </a:pPr>
            <a:r>
              <a:t>• Ưu Điểm Thiết Kế: </a:t>
            </a:r>
            <a:r>
              <a:rPr b="0" sz="1150">
                <a:solidFill>
                  <a:srgbClr val="F0F6FC"/>
                </a:solidFill>
              </a:rPr>
              <a:t>Tách bạch 100% giữa sổ kế toán cá nhân và số dư giao dịch với nền tảng, loại bỏ nhầm lẫn dòng tiền.</a:t>
            </a:r>
          </a:p>
        </p:txBody>
      </p:sp>
      <p:sp>
        <p:nvSpPr>
          <p:cNvPr id="10" name="Rounded Rectangle 9"/>
          <p:cNvSpPr/>
          <p:nvPr/>
        </p:nvSpPr>
        <p:spPr>
          <a:xfrm>
            <a:off x="8046720" y="1234440"/>
            <a:ext cx="3337560" cy="5120640"/>
          </a:xfrm>
          <a:prstGeom prst="roundRect">
            <a:avLst/>
          </a:prstGeom>
          <a:solidFill>
            <a:srgbClr val="111827"/>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1371600"/>
            <a:ext cx="3063240" cy="4846320"/>
          </a:xfrm>
          <a:prstGeom prst="rect">
            <a:avLst/>
          </a:prstGeom>
          <a:noFill/>
        </p:spPr>
        <p:txBody>
          <a:bodyPr wrap="square">
            <a:spAutoFit/>
          </a:bodyPr>
          <a:lstStyle/>
          <a:p>
            <a:pPr>
              <a:spcAft>
                <a:spcPts val="1000"/>
              </a:spcAft>
              <a:defRPr b="1" sz="1400">
                <a:solidFill>
                  <a:srgbClr val="10B981"/>
                </a:solidFill>
              </a:defRPr>
            </a:pPr>
            <a:r>
              <a:t>🗄️ CSDL 9 BẢNG (3NF)</a:t>
            </a:r>
          </a:p>
          <a:p>
            <a:pPr>
              <a:spcAft>
                <a:spcPts val="300"/>
              </a:spcAft>
              <a:defRPr b="1" sz="1100">
                <a:solidFill>
                  <a:srgbClr val="38BDF8"/>
                </a:solidFill>
              </a:defRPr>
            </a:pPr>
            <a:r>
              <a:t>• users: </a:t>
            </a:r>
            <a:r>
              <a:rPr b="0" sz="1050">
                <a:solidFill>
                  <a:srgbClr val="F0F6FC"/>
                </a:solidFill>
              </a:rPr>
              <a:t>Định danh, mật khẩu bcrypt, role, status, plan VIP.</a:t>
            </a:r>
          </a:p>
          <a:p>
            <a:pPr>
              <a:spcAft>
                <a:spcPts val="300"/>
              </a:spcAft>
              <a:defRPr b="1" sz="1100">
                <a:solidFill>
                  <a:srgbClr val="38BDF8"/>
                </a:solidFill>
              </a:defRPr>
            </a:pPr>
            <a:r>
              <a:t>• wallets: </a:t>
            </a:r>
            <a:r>
              <a:rPr b="0" sz="1050">
                <a:solidFill>
                  <a:srgbClr val="F0F6FC"/>
                </a:solidFill>
              </a:rPr>
              <a:t>Ví kế toán ảo &amp; ví thanh toán thực tế.</a:t>
            </a:r>
          </a:p>
          <a:p>
            <a:pPr>
              <a:spcAft>
                <a:spcPts val="300"/>
              </a:spcAft>
              <a:defRPr b="1" sz="1100">
                <a:solidFill>
                  <a:srgbClr val="38BDF8"/>
                </a:solidFill>
              </a:defRPr>
            </a:pPr>
            <a:r>
              <a:t>• categories: </a:t>
            </a:r>
            <a:r>
              <a:rPr b="0" sz="1050">
                <a:solidFill>
                  <a:srgbClr val="F0F6FC"/>
                </a:solidFill>
              </a:rPr>
              <a:t>Danh mục thu/chi chuẩn hóa nhóm 50/30/20.</a:t>
            </a:r>
          </a:p>
          <a:p>
            <a:pPr>
              <a:spcAft>
                <a:spcPts val="300"/>
              </a:spcAft>
              <a:defRPr b="1" sz="1100">
                <a:solidFill>
                  <a:srgbClr val="38BDF8"/>
                </a:solidFill>
              </a:defRPr>
            </a:pPr>
            <a:r>
              <a:t>• transactions: </a:t>
            </a:r>
            <a:r>
              <a:rPr b="0" sz="1050">
                <a:solidFill>
                  <a:srgbClr val="F0F6FC"/>
                </a:solidFill>
              </a:rPr>
              <a:t>Nhật ký thu chi, hoàn tiền, flag created_by_ai.</a:t>
            </a:r>
          </a:p>
          <a:p>
            <a:pPr>
              <a:spcAft>
                <a:spcPts val="300"/>
              </a:spcAft>
              <a:defRPr b="1" sz="1100">
                <a:solidFill>
                  <a:srgbClr val="38BDF8"/>
                </a:solidFill>
              </a:defRPr>
            </a:pPr>
            <a:r>
              <a:t>• budgets: </a:t>
            </a:r>
            <a:r>
              <a:rPr b="0" sz="1050">
                <a:solidFill>
                  <a:srgbClr val="F0F6FC"/>
                </a:solidFill>
              </a:rPr>
              <a:t>Hạn mức ngân sách, ngưỡng cảnh báo 80%/100%.</a:t>
            </a:r>
          </a:p>
          <a:p>
            <a:pPr>
              <a:spcAft>
                <a:spcPts val="300"/>
              </a:spcAft>
              <a:defRPr b="1" sz="1100">
                <a:solidFill>
                  <a:srgbClr val="38BDF8"/>
                </a:solidFill>
              </a:defRPr>
            </a:pPr>
            <a:r>
              <a:t>• savings_goals: </a:t>
            </a:r>
            <a:r>
              <a:rPr b="0" sz="1050">
                <a:solidFill>
                  <a:srgbClr val="F0F6FC"/>
                </a:solidFill>
              </a:rPr>
              <a:t>Mục tiêu tích lũy tài chính, tiến độ %.</a:t>
            </a:r>
          </a:p>
          <a:p>
            <a:pPr>
              <a:spcAft>
                <a:spcPts val="300"/>
              </a:spcAft>
              <a:defRPr b="1" sz="1100">
                <a:solidFill>
                  <a:srgbClr val="38BDF8"/>
                </a:solidFill>
              </a:defRPr>
            </a:pPr>
            <a:r>
              <a:t>• subscription_orders: </a:t>
            </a:r>
            <a:r>
              <a:rPr b="0" sz="1050">
                <a:solidFill>
                  <a:srgbClr val="F0F6FC"/>
                </a:solidFill>
              </a:rPr>
              <a:t>Đơn hàng nạp VIP qua VietQR MB Bank.</a:t>
            </a:r>
          </a:p>
          <a:p>
            <a:pPr>
              <a:spcAft>
                <a:spcPts val="300"/>
              </a:spcAft>
              <a:defRPr b="1" sz="1100">
                <a:solidFill>
                  <a:srgbClr val="38BDF8"/>
                </a:solidFill>
              </a:defRPr>
            </a:pPr>
            <a:r>
              <a:t>• notifications: </a:t>
            </a:r>
            <a:r>
              <a:rPr b="0" sz="1050">
                <a:solidFill>
                  <a:srgbClr val="F0F6FC"/>
                </a:solidFill>
              </a:rPr>
              <a:t>Hộp thư thông báo biến động, cảnh báo hạn mức.</a:t>
            </a:r>
          </a:p>
          <a:p>
            <a:pPr>
              <a:spcAft>
                <a:spcPts val="300"/>
              </a:spcAft>
              <a:defRPr b="1" sz="1100">
                <a:solidFill>
                  <a:srgbClr val="38BDF8"/>
                </a:solidFill>
              </a:defRPr>
            </a:pPr>
            <a:r>
              <a:t>• support_tickets: </a:t>
            </a:r>
            <a:r>
              <a:rPr b="0" sz="1050">
                <a:solidFill>
                  <a:srgbClr val="F0F6FC"/>
                </a:solidFill>
              </a:rPr>
              <a:t>Tiếp nhận và phản hồi khiếu nại của user.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1000">
                <a:solidFill>
                  <a:srgbClr val="94A3B8"/>
                </a:solidFill>
                <a:latin typeface="Segoe UI"/>
              </a:defRPr>
            </a:pPr>
            <a:r>
              <a:t>FinTrack AI • Nền Tảng Quản Lý Chi Tiêu Cá Nhân Tích Hợp AI • Nhóm 03 - ICTU 2026</a:t>
            </a:r>
          </a:p>
        </p:txBody>
      </p:sp>
      <p:sp>
        <p:nvSpPr>
          <p:cNvPr id="5" name="TextBox 4"/>
          <p:cNvSpPr txBox="1"/>
          <p:nvPr/>
        </p:nvSpPr>
        <p:spPr>
          <a:xfrm>
            <a:off x="731520" y="365760"/>
            <a:ext cx="10728655" cy="822960"/>
          </a:xfrm>
          <a:prstGeom prst="rect">
            <a:avLst/>
          </a:prstGeom>
          <a:noFill/>
        </p:spPr>
        <p:txBody>
          <a:bodyPr wrap="square">
            <a:spAutoFit/>
          </a:bodyPr>
          <a:lstStyle/>
          <a:p>
            <a:pPr>
              <a:defRPr sz="2400" b="1">
                <a:solidFill>
                  <a:srgbClr val="00F2FE"/>
                </a:solidFill>
                <a:latin typeface="Segoe UI"/>
              </a:defRPr>
            </a:pPr>
            <a:r>
              <a:t>[DEMO 01] TỔNG QUAN DASHBOARD &amp; QUẢN LÝ ĐA VÍ 2 TẦNG</a:t>
            </a:r>
          </a:p>
        </p:txBody>
      </p:sp>
      <p:sp>
        <p:nvSpPr>
          <p:cNvPr id="6" name="Rounded Rectangle 5"/>
          <p:cNvSpPr/>
          <p:nvPr/>
        </p:nvSpPr>
        <p:spPr>
          <a:xfrm>
            <a:off x="731520" y="1234440"/>
            <a:ext cx="5120640" cy="512064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17320"/>
            <a:ext cx="4572000" cy="457200"/>
          </a:xfrm>
          <a:prstGeom prst="rect">
            <a:avLst/>
          </a:prstGeom>
          <a:noFill/>
        </p:spPr>
        <p:txBody>
          <a:bodyPr wrap="none">
            <a:spAutoFit/>
          </a:bodyPr>
          <a:lstStyle/>
          <a:p>
            <a:pPr>
              <a:defRPr sz="1500" b="1">
                <a:solidFill>
                  <a:srgbClr val="F59E0B"/>
                </a:solidFill>
                <a:latin typeface="Segoe UI"/>
              </a:defRPr>
            </a:pPr>
            <a:r>
              <a:t>⚡ ĐẶC TẢ TÍNH NĂNG NỔI BẬT</a:t>
            </a:r>
          </a:p>
        </p:txBody>
      </p:sp>
      <p:sp>
        <p:nvSpPr>
          <p:cNvPr id="8" name="TextBox 7"/>
          <p:cNvSpPr txBox="1"/>
          <p:nvPr/>
        </p:nvSpPr>
        <p:spPr>
          <a:xfrm>
            <a:off x="1005840" y="1874520"/>
            <a:ext cx="4572000" cy="4297680"/>
          </a:xfrm>
          <a:prstGeom prst="rect">
            <a:avLst/>
          </a:prstGeom>
          <a:noFill/>
        </p:spPr>
        <p:txBody>
          <a:bodyPr wrap="square">
            <a:spAutoFit/>
          </a:bodyPr>
          <a:lstStyle/>
          <a:p>
            <a:pPr>
              <a:spcAft>
                <a:spcPts val="1000"/>
              </a:spcAft>
              <a:defRPr b="1" sz="1300">
                <a:solidFill>
                  <a:srgbClr val="38BDF8"/>
                </a:solidFill>
                <a:latin typeface="Segoe UI"/>
              </a:defRPr>
            </a:pPr>
            <a:r>
              <a:t>• Chỉ số KPI Real-time: </a:t>
            </a:r>
            <a:r>
              <a:rPr b="0" sz="1250">
                <a:solidFill>
                  <a:srgbClr val="F0F6FC"/>
                </a:solidFill>
              </a:rPr>
              <a:t>Theo dõi trực quan Tổng tài sản ròng, Thu nhập tháng, Chi tiêu tháng và Tỷ lệ tiết kiệm thực tế.</a:t>
            </a:r>
          </a:p>
          <a:p>
            <a:pPr>
              <a:spcAft>
                <a:spcPts val="1000"/>
              </a:spcAft>
              <a:defRPr b="1" sz="1300">
                <a:solidFill>
                  <a:srgbClr val="38BDF8"/>
                </a:solidFill>
                <a:latin typeface="Segoe UI"/>
              </a:defRPr>
            </a:pPr>
            <a:r>
              <a:t>• Biểu đồ Dòng tiền 6 Tháng: </a:t>
            </a:r>
            <a:r>
              <a:rPr b="0" sz="1250">
                <a:solidFill>
                  <a:srgbClr val="F0F6FC"/>
                </a:solidFill>
              </a:rPr>
              <a:t>Trực quan hóa xu hướng thu/chi qua Chart.js đa trục, đối chiếu biến động tài chính theo từng tháng.</a:t>
            </a:r>
          </a:p>
          <a:p>
            <a:pPr>
              <a:spcAft>
                <a:spcPts val="1000"/>
              </a:spcAft>
              <a:defRPr b="1" sz="1300">
                <a:solidFill>
                  <a:srgbClr val="38BDF8"/>
                </a:solidFill>
                <a:latin typeface="Segoe UI"/>
              </a:defRPr>
            </a:pPr>
            <a:r>
              <a:t>• Cơ cấu Chi tiêu Donut: </a:t>
            </a:r>
            <a:r>
              <a:rPr b="0" sz="1250">
                <a:solidFill>
                  <a:srgbClr val="F0F6FC"/>
                </a:solidFill>
              </a:rPr>
              <a:t>Tự động phân nhóm danh mục chi tiêu, hiển thị tỷ trọng % chi tiết ngay trung tâm biểu đồ.</a:t>
            </a:r>
          </a:p>
          <a:p>
            <a:pPr>
              <a:spcAft>
                <a:spcPts val="1000"/>
              </a:spcAft>
              <a:defRPr b="1" sz="1300">
                <a:solidFill>
                  <a:srgbClr val="38BDF8"/>
                </a:solidFill>
                <a:latin typeface="Segoe UI"/>
              </a:defRPr>
            </a:pPr>
            <a:r>
              <a:t>• Kiến trúc Đa ví Linh hoạt: </a:t>
            </a:r>
            <a:r>
              <a:rPr b="0" sz="1250">
                <a:solidFill>
                  <a:srgbClr val="F0F6FC"/>
                </a:solidFill>
              </a:rPr>
              <a:t>Quản lý ví tiền mặt, tài khoản ngân hàng, ví điện tử MoMo; hỗ trợ chuyển tiền nội bộ giữa các ví.</a:t>
            </a:r>
          </a:p>
          <a:p>
            <a:pPr>
              <a:spcAft>
                <a:spcPts val="1000"/>
              </a:spcAft>
              <a:defRPr b="1" sz="1300">
                <a:solidFill>
                  <a:srgbClr val="38BDF8"/>
                </a:solidFill>
                <a:latin typeface="Segoe UI"/>
              </a:defRPr>
            </a:pPr>
            <a:r>
              <a:t>• Nạp nhanh số dư Ví: </a:t>
            </a:r>
            <a:r>
              <a:rPr b="0" sz="1250">
                <a:solidFill>
                  <a:srgbClr val="F0F6FC"/>
                </a:solidFill>
              </a:rPr>
              <a:t>Cập nhật tức thì số dư thực tế vào sổ kế toán chỉ với 1 thao tác.</a:t>
            </a:r>
          </a:p>
        </p:txBody>
      </p:sp>
      <p:sp>
        <p:nvSpPr>
          <p:cNvPr id="9" name="Rounded Rectangle 8"/>
          <p:cNvSpPr/>
          <p:nvPr/>
        </p:nvSpPr>
        <p:spPr>
          <a:xfrm>
            <a:off x="6217920" y="1234440"/>
            <a:ext cx="5120640" cy="512064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08760"/>
            <a:ext cx="4572000" cy="548640"/>
          </a:xfrm>
          <a:prstGeom prst="rect">
            <a:avLst/>
          </a:prstGeom>
          <a:noFill/>
        </p:spPr>
        <p:txBody>
          <a:bodyPr wrap="none">
            <a:spAutoFit/>
          </a:bodyPr>
          <a:lstStyle/>
          <a:p>
            <a:pPr>
              <a:defRPr sz="1400" b="1">
                <a:solidFill>
                  <a:srgbClr val="A855F7"/>
                </a:solidFill>
                <a:latin typeface="Segoe UI"/>
              </a:defRPr>
            </a:pPr>
            <a:r>
              <a:t>🖼️ GIAO DIỆN MINH HỌA (DEMO)</a:t>
            </a:r>
          </a:p>
        </p:txBody>
      </p:sp>
      <p:sp>
        <p:nvSpPr>
          <p:cNvPr id="11" name="Rectangle 10"/>
          <p:cNvSpPr/>
          <p:nvPr/>
        </p:nvSpPr>
        <p:spPr>
          <a:xfrm>
            <a:off x="6492240" y="2057400"/>
            <a:ext cx="4572000" cy="4023360"/>
          </a:xfrm>
          <a:prstGeom prst="rect">
            <a:avLst/>
          </a:prstGeom>
          <a:solidFill>
            <a:srgbClr val="080C1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3246120"/>
            <a:ext cx="4206240" cy="1828800"/>
          </a:xfrm>
          <a:prstGeom prst="rect">
            <a:avLst/>
          </a:prstGeom>
          <a:noFill/>
        </p:spPr>
        <p:txBody>
          <a:bodyPr wrap="square">
            <a:spAutoFit/>
          </a:bodyPr>
          <a:lstStyle/>
          <a:p>
            <a:pPr algn="ctr">
              <a:defRPr b="1" sz="1400">
                <a:solidFill>
                  <a:srgbClr val="00F2FE"/>
                </a:solidFill>
              </a:defRPr>
            </a:pPr>
            <a:r>
              <a:t>[ CHÈN HÌNH ẢNH MINH HỌA TẠI ĐÂY ]</a:t>
            </a:r>
            <a:br/>
          </a:p>
          <a:p>
            <a:pPr algn="ctr">
              <a:defRPr sz="1150">
                <a:solidFill>
                  <a:srgbClr val="94A3B8"/>
                </a:solidFill>
              </a:defRPr>
            </a:pPr>
            <a:r>
              <a:t>Vị trí chèn ảnh minh họa:</a:t>
            </a:r>
            <a:br/>
            <a:r>
              <a:t>1. Màn hình Tổng quan Dashboard KPI</a:t>
            </a:r>
            <a:br/>
            <a:r>
              <a:t>2. Màn hình Danh sách Tài khoản &amp; Ví tiền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1000">
                <a:solidFill>
                  <a:srgbClr val="94A3B8"/>
                </a:solidFill>
                <a:latin typeface="Segoe UI"/>
              </a:defRPr>
            </a:pPr>
            <a:r>
              <a:t>FinTrack AI • Nền Tảng Quản Lý Chi Tiêu Cá Nhân Tích Hợp AI • Nhóm 03 - ICTU 2026</a:t>
            </a:r>
          </a:p>
        </p:txBody>
      </p:sp>
      <p:sp>
        <p:nvSpPr>
          <p:cNvPr id="5" name="TextBox 4"/>
          <p:cNvSpPr txBox="1"/>
          <p:nvPr/>
        </p:nvSpPr>
        <p:spPr>
          <a:xfrm>
            <a:off x="731520" y="365760"/>
            <a:ext cx="10728655" cy="822960"/>
          </a:xfrm>
          <a:prstGeom prst="rect">
            <a:avLst/>
          </a:prstGeom>
          <a:noFill/>
        </p:spPr>
        <p:txBody>
          <a:bodyPr wrap="square">
            <a:spAutoFit/>
          </a:bodyPr>
          <a:lstStyle/>
          <a:p>
            <a:pPr>
              <a:defRPr sz="2400" b="1">
                <a:solidFill>
                  <a:srgbClr val="00F2FE"/>
                </a:solidFill>
                <a:latin typeface="Segoe UI"/>
              </a:defRPr>
            </a:pPr>
            <a:r>
              <a:t>[DEMO 02] ĐIỂM NHẤN FINTRACK AI PARSER - NHẬP NHANH BẰNG AI</a:t>
            </a:r>
          </a:p>
        </p:txBody>
      </p:sp>
      <p:sp>
        <p:nvSpPr>
          <p:cNvPr id="6" name="Rounded Rectangle 5"/>
          <p:cNvSpPr/>
          <p:nvPr/>
        </p:nvSpPr>
        <p:spPr>
          <a:xfrm>
            <a:off x="731520" y="1234440"/>
            <a:ext cx="5120640" cy="512064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17320"/>
            <a:ext cx="4572000" cy="457200"/>
          </a:xfrm>
          <a:prstGeom prst="rect">
            <a:avLst/>
          </a:prstGeom>
          <a:noFill/>
        </p:spPr>
        <p:txBody>
          <a:bodyPr wrap="none">
            <a:spAutoFit/>
          </a:bodyPr>
          <a:lstStyle/>
          <a:p>
            <a:pPr>
              <a:defRPr sz="1500" b="1">
                <a:solidFill>
                  <a:srgbClr val="F59E0B"/>
                </a:solidFill>
                <a:latin typeface="Segoe UI"/>
              </a:defRPr>
            </a:pPr>
            <a:r>
              <a:t>⚡ ĐẶC TẢ TÍNH NĂNG NỔI BẬT</a:t>
            </a:r>
          </a:p>
        </p:txBody>
      </p:sp>
      <p:sp>
        <p:nvSpPr>
          <p:cNvPr id="8" name="TextBox 7"/>
          <p:cNvSpPr txBox="1"/>
          <p:nvPr/>
        </p:nvSpPr>
        <p:spPr>
          <a:xfrm>
            <a:off x="1005840" y="1874520"/>
            <a:ext cx="4572000" cy="4297680"/>
          </a:xfrm>
          <a:prstGeom prst="rect">
            <a:avLst/>
          </a:prstGeom>
          <a:noFill/>
        </p:spPr>
        <p:txBody>
          <a:bodyPr wrap="square">
            <a:spAutoFit/>
          </a:bodyPr>
          <a:lstStyle/>
          <a:p>
            <a:pPr>
              <a:spcAft>
                <a:spcPts val="1000"/>
              </a:spcAft>
              <a:defRPr b="1" sz="1300">
                <a:solidFill>
                  <a:srgbClr val="38BDF8"/>
                </a:solidFill>
                <a:latin typeface="Segoe UI"/>
              </a:defRPr>
            </a:pPr>
            <a:r>
              <a:t>• Nhập liệu 1 chạm tiếng Việt: </a:t>
            </a:r>
            <a:r>
              <a:rPr b="0" sz="1250">
                <a:solidFill>
                  <a:srgbClr val="F0F6FC"/>
                </a:solidFill>
              </a:rPr>
              <a:t>Người dùng gõ/nói tự nhiên: 'Ăn trưa bún bò 45k MoMo', 'Lương 28 triệu vào Techcombank'.</a:t>
            </a:r>
          </a:p>
          <a:p>
            <a:pPr>
              <a:spcAft>
                <a:spcPts val="1000"/>
              </a:spcAft>
              <a:defRPr b="1" sz="1300">
                <a:solidFill>
                  <a:srgbClr val="38BDF8"/>
                </a:solidFill>
                <a:latin typeface="Segoe UI"/>
              </a:defRPr>
            </a:pPr>
            <a:r>
              <a:t>• Bóc tách thông minh siêu tốc: </a:t>
            </a:r>
            <a:r>
              <a:rPr b="0" sz="1250">
                <a:solidFill>
                  <a:srgbClr val="F0F6FC"/>
                </a:solidFill>
              </a:rPr>
              <a:t>AI tự động trích xuất Loại (Thu/Chi), Số tiền, Danh mục, Ví tương ứng trong ~400ms với độ tin cậy &gt;95%.</a:t>
            </a:r>
          </a:p>
          <a:p>
            <a:pPr>
              <a:spcAft>
                <a:spcPts val="1000"/>
              </a:spcAft>
              <a:defRPr b="1" sz="1300">
                <a:solidFill>
                  <a:srgbClr val="38BDF8"/>
                </a:solidFill>
                <a:latin typeface="Segoe UI"/>
              </a:defRPr>
            </a:pPr>
            <a:r>
              <a:t>• Sổ Giao dịch Đa tiêu chí: </a:t>
            </a:r>
            <a:r>
              <a:rPr b="0" sz="1250">
                <a:solidFill>
                  <a:srgbClr val="F0F6FC"/>
                </a:solidFill>
              </a:rPr>
              <a:t>Tra cứu lịch sử thu chi theo khoảng ngày, theo ví thanh toán, theo danh mục hoặc từ khóa ghi chú.</a:t>
            </a:r>
          </a:p>
          <a:p>
            <a:pPr>
              <a:spcAft>
                <a:spcPts val="1000"/>
              </a:spcAft>
              <a:defRPr b="1" sz="1300">
                <a:solidFill>
                  <a:srgbClr val="38BDF8"/>
                </a:solidFill>
                <a:latin typeface="Segoe UI"/>
              </a:defRPr>
            </a:pPr>
            <a:r>
              <a:t>• Badge Loại giao dịch Cyber: </a:t>
            </a:r>
            <a:r>
              <a:rPr b="0" sz="1250">
                <a:solidFill>
                  <a:srgbClr val="F0F6FC"/>
                </a:solidFill>
              </a:rPr>
              <a:t>Phân loại trực quan: Thu nhập (Xanh), Chi tiêu (Đỏ), Chuyển ví (Cyan) chống tràn chữ.</a:t>
            </a:r>
          </a:p>
          <a:p>
            <a:pPr>
              <a:spcAft>
                <a:spcPts val="1000"/>
              </a:spcAft>
              <a:defRPr b="1" sz="1300">
                <a:solidFill>
                  <a:srgbClr val="38BDF8"/>
                </a:solidFill>
                <a:latin typeface="Segoe UI"/>
              </a:defRPr>
            </a:pPr>
            <a:r>
              <a:t>• Xuất Báo cáo 1-Click: </a:t>
            </a:r>
            <a:r>
              <a:rPr b="0" sz="1250">
                <a:solidFill>
                  <a:srgbClr val="F0F6FC"/>
                </a:solidFill>
              </a:rPr>
              <a:t>Hỗ trợ xuất dữ liệu ra file Excel (.xlsx), PDF chuyên nghiệp và CSV chuẩn UTF-8.</a:t>
            </a:r>
          </a:p>
        </p:txBody>
      </p:sp>
      <p:sp>
        <p:nvSpPr>
          <p:cNvPr id="9" name="Rounded Rectangle 8"/>
          <p:cNvSpPr/>
          <p:nvPr/>
        </p:nvSpPr>
        <p:spPr>
          <a:xfrm>
            <a:off x="6217920" y="1234440"/>
            <a:ext cx="5120640" cy="512064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08760"/>
            <a:ext cx="4572000" cy="548640"/>
          </a:xfrm>
          <a:prstGeom prst="rect">
            <a:avLst/>
          </a:prstGeom>
          <a:noFill/>
        </p:spPr>
        <p:txBody>
          <a:bodyPr wrap="none">
            <a:spAutoFit/>
          </a:bodyPr>
          <a:lstStyle/>
          <a:p>
            <a:pPr>
              <a:defRPr sz="1400" b="1">
                <a:solidFill>
                  <a:srgbClr val="A855F7"/>
                </a:solidFill>
                <a:latin typeface="Segoe UI"/>
              </a:defRPr>
            </a:pPr>
            <a:r>
              <a:t>🖼️ GIAO DIỆN MINH HỌA (DEMO)</a:t>
            </a:r>
          </a:p>
        </p:txBody>
      </p:sp>
      <p:sp>
        <p:nvSpPr>
          <p:cNvPr id="11" name="Rectangle 10"/>
          <p:cNvSpPr/>
          <p:nvPr/>
        </p:nvSpPr>
        <p:spPr>
          <a:xfrm>
            <a:off x="6492240" y="2057400"/>
            <a:ext cx="4572000" cy="4023360"/>
          </a:xfrm>
          <a:prstGeom prst="rect">
            <a:avLst/>
          </a:prstGeom>
          <a:solidFill>
            <a:srgbClr val="080C1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3246120"/>
            <a:ext cx="4206240" cy="1828800"/>
          </a:xfrm>
          <a:prstGeom prst="rect">
            <a:avLst/>
          </a:prstGeom>
          <a:noFill/>
        </p:spPr>
        <p:txBody>
          <a:bodyPr wrap="square">
            <a:spAutoFit/>
          </a:bodyPr>
          <a:lstStyle/>
          <a:p>
            <a:pPr algn="ctr">
              <a:defRPr b="1" sz="1400">
                <a:solidFill>
                  <a:srgbClr val="00F2FE"/>
                </a:solidFill>
              </a:defRPr>
            </a:pPr>
            <a:r>
              <a:t>[ CHÈN HÌNH ẢNH MINH HỌA TẠI ĐÂY ]</a:t>
            </a:r>
            <a:br/>
          </a:p>
          <a:p>
            <a:pPr algn="ctr">
              <a:defRPr sz="1150">
                <a:solidFill>
                  <a:srgbClr val="94A3B8"/>
                </a:solidFill>
              </a:defRPr>
            </a:pPr>
            <a:r>
              <a:t>Vị trí chèn ảnh minh họa:</a:t>
            </a:r>
            <a:br/>
            <a:r>
              <a:t>1. Modal Bóc tách Giao dịch bằng AI Parser</a:t>
            </a:r>
            <a:br/>
            <a:r>
              <a:t>2. Bảng Sổ giao dịch Thu - Chi đa bộ lọc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1000">
                <a:solidFill>
                  <a:srgbClr val="94A3B8"/>
                </a:solidFill>
                <a:latin typeface="Segoe UI"/>
              </a:defRPr>
            </a:pPr>
            <a:r>
              <a:t>FinTrack AI • Nền Tảng Quản Lý Chi Tiêu Cá Nhân Tích Hợp AI • Nhóm 03 - ICTU 2026</a:t>
            </a:r>
          </a:p>
        </p:txBody>
      </p:sp>
      <p:sp>
        <p:nvSpPr>
          <p:cNvPr id="5" name="TextBox 4"/>
          <p:cNvSpPr txBox="1"/>
          <p:nvPr/>
        </p:nvSpPr>
        <p:spPr>
          <a:xfrm>
            <a:off x="731520" y="365760"/>
            <a:ext cx="10728655" cy="822960"/>
          </a:xfrm>
          <a:prstGeom prst="rect">
            <a:avLst/>
          </a:prstGeom>
          <a:noFill/>
        </p:spPr>
        <p:txBody>
          <a:bodyPr wrap="square">
            <a:spAutoFit/>
          </a:bodyPr>
          <a:lstStyle/>
          <a:p>
            <a:pPr>
              <a:defRPr sz="2400" b="1">
                <a:solidFill>
                  <a:srgbClr val="00F2FE"/>
                </a:solidFill>
                <a:latin typeface="Segoe UI"/>
              </a:defRPr>
            </a:pPr>
            <a:r>
              <a:t>[DEMO 03] QUẢN TRỊ NGÂN SÁCH 50/30/20 &amp; TRỢ LÝ CỐ VẤN AI 24/7</a:t>
            </a:r>
          </a:p>
        </p:txBody>
      </p:sp>
      <p:sp>
        <p:nvSpPr>
          <p:cNvPr id="6" name="Rounded Rectangle 5"/>
          <p:cNvSpPr/>
          <p:nvPr/>
        </p:nvSpPr>
        <p:spPr>
          <a:xfrm>
            <a:off x="731520" y="1234440"/>
            <a:ext cx="5120640" cy="512064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17320"/>
            <a:ext cx="4572000" cy="457200"/>
          </a:xfrm>
          <a:prstGeom prst="rect">
            <a:avLst/>
          </a:prstGeom>
          <a:noFill/>
        </p:spPr>
        <p:txBody>
          <a:bodyPr wrap="none">
            <a:spAutoFit/>
          </a:bodyPr>
          <a:lstStyle/>
          <a:p>
            <a:pPr>
              <a:defRPr sz="1500" b="1">
                <a:solidFill>
                  <a:srgbClr val="F59E0B"/>
                </a:solidFill>
                <a:latin typeface="Segoe UI"/>
              </a:defRPr>
            </a:pPr>
            <a:r>
              <a:t>⚡ ĐẶC TẢ TÍNH NĂNG NỔI BẬT</a:t>
            </a:r>
          </a:p>
        </p:txBody>
      </p:sp>
      <p:sp>
        <p:nvSpPr>
          <p:cNvPr id="8" name="TextBox 7"/>
          <p:cNvSpPr txBox="1"/>
          <p:nvPr/>
        </p:nvSpPr>
        <p:spPr>
          <a:xfrm>
            <a:off x="1005840" y="1874520"/>
            <a:ext cx="4572000" cy="4297680"/>
          </a:xfrm>
          <a:prstGeom prst="rect">
            <a:avLst/>
          </a:prstGeom>
          <a:noFill/>
        </p:spPr>
        <p:txBody>
          <a:bodyPr wrap="square">
            <a:spAutoFit/>
          </a:bodyPr>
          <a:lstStyle/>
          <a:p>
            <a:pPr>
              <a:spcAft>
                <a:spcPts val="1000"/>
              </a:spcAft>
              <a:defRPr b="1" sz="1300">
                <a:solidFill>
                  <a:srgbClr val="38BDF8"/>
                </a:solidFill>
                <a:latin typeface="Segoe UI"/>
              </a:defRPr>
            </a:pPr>
            <a:r>
              <a:t>• Cảnh báo Ngân sách Đa tầng: </a:t>
            </a:r>
            <a:r>
              <a:rPr b="0" sz="1250">
                <a:solidFill>
                  <a:srgbClr val="F0F6FC"/>
                </a:solidFill>
              </a:rPr>
              <a:t>Đổi màu thanh tiến trình trực quan: Xanh (&lt;80% An toàn), Vàng (80-99% Cảnh báo), Đỏ (&gt;=100% Bội chi).</a:t>
            </a:r>
          </a:p>
          <a:p>
            <a:pPr>
              <a:spcAft>
                <a:spcPts val="1000"/>
              </a:spcAft>
              <a:defRPr b="1" sz="1300">
                <a:solidFill>
                  <a:srgbClr val="38BDF8"/>
                </a:solidFill>
                <a:latin typeface="Segoe UI"/>
              </a:defRPr>
            </a:pPr>
            <a:r>
              <a:t>• Chẩn đoán Sức khỏe 50/30/20: </a:t>
            </a:r>
            <a:r>
              <a:rPr b="0" sz="1250">
                <a:solidFill>
                  <a:srgbClr val="F0F6FC"/>
                </a:solidFill>
              </a:rPr>
              <a:t>Chấm điểm Sức khỏe Tài chính (0-100), phân tích tỷ trọng Thiết yếu (50%), Mong muốn (30%), Tiết kiệm (20%).</a:t>
            </a:r>
          </a:p>
          <a:p>
            <a:pPr>
              <a:spcAft>
                <a:spcPts val="1000"/>
              </a:spcAft>
              <a:defRPr b="1" sz="1300">
                <a:solidFill>
                  <a:srgbClr val="38BDF8"/>
                </a:solidFill>
                <a:latin typeface="Segoe UI"/>
              </a:defRPr>
            </a:pPr>
            <a:r>
              <a:t>• Đề xuất 3 Hành động Cắt giảm: </a:t>
            </a:r>
            <a:r>
              <a:rPr b="0" sz="1250">
                <a:solidFill>
                  <a:srgbClr val="F0F6FC"/>
                </a:solidFill>
              </a:rPr>
              <a:t>Chỉ ra chính xác các danh mục có nguy cơ thâm hụt và đưa ra lời khuyên tối ưu chi phí thực tế.</a:t>
            </a:r>
          </a:p>
          <a:p>
            <a:pPr>
              <a:spcAft>
                <a:spcPts val="1000"/>
              </a:spcAft>
              <a:defRPr b="1" sz="1300">
                <a:solidFill>
                  <a:srgbClr val="38BDF8"/>
                </a:solidFill>
                <a:latin typeface="Segoe UI"/>
              </a:defRPr>
            </a:pPr>
            <a:r>
              <a:t>• Trợ lý AI Financial Q&amp;A: </a:t>
            </a:r>
            <a:r>
              <a:rPr b="0" sz="1250">
                <a:solidFill>
                  <a:srgbClr val="F0F6FC"/>
                </a:solidFill>
              </a:rPr>
              <a:t>Hỏi đáp ngôn ngữ tự nhiên về tài chính: 'Lương 5 triệu phân bổ thế nào?', 'Tháng này tôi đã tiêu bao nhiêu?'.</a:t>
            </a:r>
          </a:p>
          <a:p>
            <a:pPr>
              <a:spcAft>
                <a:spcPts val="1000"/>
              </a:spcAft>
              <a:defRPr b="1" sz="1300">
                <a:solidFill>
                  <a:srgbClr val="38BDF8"/>
                </a:solidFill>
                <a:latin typeface="Segoe UI"/>
              </a:defRPr>
            </a:pPr>
            <a:r>
              <a:t>• Định dạng Markdown Chuyên nghiệp: </a:t>
            </a:r>
            <a:r>
              <a:rPr b="0" sz="1250">
                <a:solidFill>
                  <a:srgbClr val="F0F6FC"/>
                </a:solidFill>
              </a:rPr>
              <a:t>Câu trả lời từ AI được render bảng biểu, gạch đầu dòng và số tiền định dạng VND rõ ràng.</a:t>
            </a:r>
          </a:p>
        </p:txBody>
      </p:sp>
      <p:sp>
        <p:nvSpPr>
          <p:cNvPr id="9" name="Rounded Rectangle 8"/>
          <p:cNvSpPr/>
          <p:nvPr/>
        </p:nvSpPr>
        <p:spPr>
          <a:xfrm>
            <a:off x="6217920" y="1234440"/>
            <a:ext cx="5120640" cy="512064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08760"/>
            <a:ext cx="4572000" cy="548640"/>
          </a:xfrm>
          <a:prstGeom prst="rect">
            <a:avLst/>
          </a:prstGeom>
          <a:noFill/>
        </p:spPr>
        <p:txBody>
          <a:bodyPr wrap="none">
            <a:spAutoFit/>
          </a:bodyPr>
          <a:lstStyle/>
          <a:p>
            <a:pPr>
              <a:defRPr sz="1400" b="1">
                <a:solidFill>
                  <a:srgbClr val="A855F7"/>
                </a:solidFill>
                <a:latin typeface="Segoe UI"/>
              </a:defRPr>
            </a:pPr>
            <a:r>
              <a:t>🖼️ GIAO DIỆN MINH HỌA (DEMO)</a:t>
            </a:r>
          </a:p>
        </p:txBody>
      </p:sp>
      <p:sp>
        <p:nvSpPr>
          <p:cNvPr id="11" name="Rectangle 10"/>
          <p:cNvSpPr/>
          <p:nvPr/>
        </p:nvSpPr>
        <p:spPr>
          <a:xfrm>
            <a:off x="6492240" y="2057400"/>
            <a:ext cx="4572000" cy="4023360"/>
          </a:xfrm>
          <a:prstGeom prst="rect">
            <a:avLst/>
          </a:prstGeom>
          <a:solidFill>
            <a:srgbClr val="080C1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3246120"/>
            <a:ext cx="4206240" cy="1828800"/>
          </a:xfrm>
          <a:prstGeom prst="rect">
            <a:avLst/>
          </a:prstGeom>
          <a:noFill/>
        </p:spPr>
        <p:txBody>
          <a:bodyPr wrap="square">
            <a:spAutoFit/>
          </a:bodyPr>
          <a:lstStyle/>
          <a:p>
            <a:pPr algn="ctr">
              <a:defRPr b="1" sz="1400">
                <a:solidFill>
                  <a:srgbClr val="00F2FE"/>
                </a:solidFill>
              </a:defRPr>
            </a:pPr>
            <a:r>
              <a:t>[ CHÈN HÌNH ẢNH MINH HỌA TẠI ĐÂY ]</a:t>
            </a:r>
            <a:br/>
          </a:p>
          <a:p>
            <a:pPr algn="ctr">
              <a:defRPr sz="1150">
                <a:solidFill>
                  <a:srgbClr val="94A3B8"/>
                </a:solidFill>
              </a:defRPr>
            </a:pPr>
            <a:r>
              <a:t>Vị trí chèn ảnh minh họa:</a:t>
            </a:r>
            <a:br/>
            <a:r>
              <a:t>1. Màn hình Hạn mức Ngân sách &amp; Cảnh báo</a:t>
            </a:r>
            <a:br/>
            <a:r>
              <a:t>2. Màn hình Trợ lý Cố vấn AI Chatbot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1000">
                <a:solidFill>
                  <a:srgbClr val="94A3B8"/>
                </a:solidFill>
                <a:latin typeface="Segoe UI"/>
              </a:defRPr>
            </a:pPr>
            <a:r>
              <a:t>FinTrack AI • Nền Tảng Quản Lý Chi Tiêu Cá Nhân Tích Hợp AI • Nhóm 03 - ICTU 2026</a:t>
            </a:r>
          </a:p>
        </p:txBody>
      </p:sp>
      <p:sp>
        <p:nvSpPr>
          <p:cNvPr id="5" name="TextBox 4"/>
          <p:cNvSpPr txBox="1"/>
          <p:nvPr/>
        </p:nvSpPr>
        <p:spPr>
          <a:xfrm>
            <a:off x="731520" y="365760"/>
            <a:ext cx="10728655" cy="822960"/>
          </a:xfrm>
          <a:prstGeom prst="rect">
            <a:avLst/>
          </a:prstGeom>
          <a:noFill/>
        </p:spPr>
        <p:txBody>
          <a:bodyPr wrap="square">
            <a:spAutoFit/>
          </a:bodyPr>
          <a:lstStyle/>
          <a:p>
            <a:pPr>
              <a:defRPr sz="2400" b="1">
                <a:solidFill>
                  <a:srgbClr val="00F2FE"/>
                </a:solidFill>
                <a:latin typeface="Segoe UI"/>
              </a:defRPr>
            </a:pPr>
            <a:r>
              <a:t>[DEMO 04] GAMIFICATION THÀNH TÍCH &amp; CỔNG NẠP VIETQR MB BANK</a:t>
            </a:r>
          </a:p>
        </p:txBody>
      </p:sp>
      <p:sp>
        <p:nvSpPr>
          <p:cNvPr id="6" name="Rounded Rectangle 5"/>
          <p:cNvSpPr/>
          <p:nvPr/>
        </p:nvSpPr>
        <p:spPr>
          <a:xfrm>
            <a:off x="731520" y="1234440"/>
            <a:ext cx="5120640" cy="512064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17320"/>
            <a:ext cx="4572000" cy="457200"/>
          </a:xfrm>
          <a:prstGeom prst="rect">
            <a:avLst/>
          </a:prstGeom>
          <a:noFill/>
        </p:spPr>
        <p:txBody>
          <a:bodyPr wrap="none">
            <a:spAutoFit/>
          </a:bodyPr>
          <a:lstStyle/>
          <a:p>
            <a:pPr>
              <a:defRPr sz="1500" b="1">
                <a:solidFill>
                  <a:srgbClr val="F59E0B"/>
                </a:solidFill>
                <a:latin typeface="Segoe UI"/>
              </a:defRPr>
            </a:pPr>
            <a:r>
              <a:t>⚡ ĐẶC TẢ TÍNH NĂNG NỔI BẬT</a:t>
            </a:r>
          </a:p>
        </p:txBody>
      </p:sp>
      <p:sp>
        <p:nvSpPr>
          <p:cNvPr id="8" name="TextBox 7"/>
          <p:cNvSpPr txBox="1"/>
          <p:nvPr/>
        </p:nvSpPr>
        <p:spPr>
          <a:xfrm>
            <a:off x="1005840" y="1874520"/>
            <a:ext cx="4572000" cy="4297680"/>
          </a:xfrm>
          <a:prstGeom prst="rect">
            <a:avLst/>
          </a:prstGeom>
          <a:noFill/>
        </p:spPr>
        <p:txBody>
          <a:bodyPr wrap="square">
            <a:spAutoFit/>
          </a:bodyPr>
          <a:lstStyle/>
          <a:p>
            <a:pPr>
              <a:spcAft>
                <a:spcPts val="1000"/>
              </a:spcAft>
              <a:defRPr b="1" sz="1300">
                <a:solidFill>
                  <a:srgbClr val="38BDF8"/>
                </a:solidFill>
                <a:latin typeface="Segoe UI"/>
              </a:defRPr>
            </a:pPr>
            <a:r>
              <a:t>• Level Road Map 6 Cột Mốc: </a:t>
            </a:r>
            <a:r>
              <a:rPr b="0" sz="1250">
                <a:solidFill>
                  <a:srgbClr val="F0F6FC"/>
                </a:solidFill>
              </a:rPr>
              <a:t>Hệ thống cấp bậc: Khởi Đầu (Lv.0) -&gt; Đồng (Lv.1-2) -&gt; Bạc (Lv.3-4) -&gt; Vàng (Lv.5-6) -&gt; Kim Cương (Lv.7-8) -&gt; Huyền Thoại (Lv.9-10).</a:t>
            </a:r>
          </a:p>
          <a:p>
            <a:pPr>
              <a:spcAft>
                <a:spcPts val="1000"/>
              </a:spcAft>
              <a:defRPr b="1" sz="1300">
                <a:solidFill>
                  <a:srgbClr val="38BDF8"/>
                </a:solidFill>
                <a:latin typeface="Segoe UI"/>
              </a:defRPr>
            </a:pPr>
            <a:r>
              <a:t>• Bộ Sưu Tập 24 Huy Hiệu: </a:t>
            </a:r>
            <a:r>
              <a:rPr b="0" sz="1250">
                <a:solidFill>
                  <a:srgbClr val="F0F6FC"/>
                </a:solidFill>
              </a:rPr>
              <a:t>Mở khóa vinh danh theo kỷ luật tài chính, hoàn thành ngân sách và tích lũy tiết kiệm.</a:t>
            </a:r>
          </a:p>
          <a:p>
            <a:pPr>
              <a:spcAft>
                <a:spcPts val="1000"/>
              </a:spcAft>
              <a:defRPr b="1" sz="1300">
                <a:solidFill>
                  <a:srgbClr val="38BDF8"/>
                </a:solidFill>
                <a:latin typeface="Segoe UI"/>
              </a:defRPr>
            </a:pPr>
            <a:r>
              <a:t>• Chuỗi Kỷ Luật (Streak): </a:t>
            </a:r>
            <a:r>
              <a:rPr b="0" sz="1250">
                <a:solidFill>
                  <a:srgbClr val="F0F6FC"/>
                </a:solidFill>
              </a:rPr>
              <a:t>Ghi nhận số ngày duy trì ghi chép tài chính liên tục, thúc đẩy thói quen quản lý tiền bạc.</a:t>
            </a:r>
          </a:p>
          <a:p>
            <a:pPr>
              <a:spcAft>
                <a:spcPts val="1000"/>
              </a:spcAft>
              <a:defRPr b="1" sz="1300">
                <a:solidFill>
                  <a:srgbClr val="38BDF8"/>
                </a:solidFill>
                <a:latin typeface="Segoe UI"/>
              </a:defRPr>
            </a:pPr>
            <a:r>
              <a:t>• Bảng Giá 4 Gói Dịch Vụ VIP: </a:t>
            </a:r>
            <a:r>
              <a:rPr b="0" sz="1250">
                <a:solidFill>
                  <a:srgbClr val="F0F6FC"/>
                </a:solidFill>
              </a:rPr>
              <a:t>Free (0đ), Pro (49k/tháng), Premium (99k/tháng) và Platinum VIP (199k/tháng).</a:t>
            </a:r>
          </a:p>
          <a:p>
            <a:pPr>
              <a:spcAft>
                <a:spcPts val="1000"/>
              </a:spcAft>
              <a:defRPr b="1" sz="1300">
                <a:solidFill>
                  <a:srgbClr val="38BDF8"/>
                </a:solidFill>
                <a:latin typeface="Segoe UI"/>
              </a:defRPr>
            </a:pPr>
            <a:r>
              <a:t>• Cổng Nạp VietQR MB Bank: </a:t>
            </a:r>
            <a:r>
              <a:rPr b="0" sz="1250">
                <a:solidFill>
                  <a:srgbClr val="F0F6FC"/>
                </a:solidFill>
              </a:rPr>
              <a:t>Sinh mã QR động theo chuẩn NAPAS 247: STK 0374617569 (DANG QUYET THANG), tự gán đúng số tiền &amp; cú pháp đơn hàng.</a:t>
            </a:r>
          </a:p>
        </p:txBody>
      </p:sp>
      <p:sp>
        <p:nvSpPr>
          <p:cNvPr id="9" name="Rounded Rectangle 8"/>
          <p:cNvSpPr/>
          <p:nvPr/>
        </p:nvSpPr>
        <p:spPr>
          <a:xfrm>
            <a:off x="6217920" y="1234440"/>
            <a:ext cx="5120640" cy="512064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08760"/>
            <a:ext cx="4572000" cy="548640"/>
          </a:xfrm>
          <a:prstGeom prst="rect">
            <a:avLst/>
          </a:prstGeom>
          <a:noFill/>
        </p:spPr>
        <p:txBody>
          <a:bodyPr wrap="none">
            <a:spAutoFit/>
          </a:bodyPr>
          <a:lstStyle/>
          <a:p>
            <a:pPr>
              <a:defRPr sz="1400" b="1">
                <a:solidFill>
                  <a:srgbClr val="A855F7"/>
                </a:solidFill>
                <a:latin typeface="Segoe UI"/>
              </a:defRPr>
            </a:pPr>
            <a:r>
              <a:t>🖼️ GIAO DIỆN MINH HỌA (DEMO)</a:t>
            </a:r>
          </a:p>
        </p:txBody>
      </p:sp>
      <p:sp>
        <p:nvSpPr>
          <p:cNvPr id="11" name="Rectangle 10"/>
          <p:cNvSpPr/>
          <p:nvPr/>
        </p:nvSpPr>
        <p:spPr>
          <a:xfrm>
            <a:off x="6492240" y="2057400"/>
            <a:ext cx="4572000" cy="4023360"/>
          </a:xfrm>
          <a:prstGeom prst="rect">
            <a:avLst/>
          </a:prstGeom>
          <a:solidFill>
            <a:srgbClr val="080C1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3246120"/>
            <a:ext cx="4206240" cy="1828800"/>
          </a:xfrm>
          <a:prstGeom prst="rect">
            <a:avLst/>
          </a:prstGeom>
          <a:noFill/>
        </p:spPr>
        <p:txBody>
          <a:bodyPr wrap="square">
            <a:spAutoFit/>
          </a:bodyPr>
          <a:lstStyle/>
          <a:p>
            <a:pPr algn="ctr">
              <a:defRPr b="1" sz="1400">
                <a:solidFill>
                  <a:srgbClr val="00F2FE"/>
                </a:solidFill>
              </a:defRPr>
            </a:pPr>
            <a:r>
              <a:t>[ CHÈN HÌNH ẢNH MINH HỌA TẠI ĐÂY ]</a:t>
            </a:r>
            <a:br/>
          </a:p>
          <a:p>
            <a:pPr algn="ctr">
              <a:defRPr sz="1150">
                <a:solidFill>
                  <a:srgbClr val="94A3B8"/>
                </a:solidFill>
              </a:defRPr>
            </a:pPr>
            <a:r>
              <a:t>Vị trí chèn ảnh minh họa:</a:t>
            </a:r>
            <a:br/>
            <a:r>
              <a:t>1. Màn hình Gamification Level Road Map &amp; Huy hiệu</a:t>
            </a:r>
            <a:br/>
            <a:r>
              <a:t>2. Bảng giá 4 Gói VIP &amp; Modal Quét VietQR MB Bank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1000">
                <a:solidFill>
                  <a:srgbClr val="94A3B8"/>
                </a:solidFill>
                <a:latin typeface="Segoe UI"/>
              </a:defRPr>
            </a:pPr>
            <a:r>
              <a:t>FinTrack AI • Nền Tảng Quản Lý Chi Tiêu Cá Nhân Tích Hợp AI • Nhóm 03 - ICTU 2026</a:t>
            </a:r>
          </a:p>
        </p:txBody>
      </p:sp>
      <p:sp>
        <p:nvSpPr>
          <p:cNvPr id="5" name="TextBox 4"/>
          <p:cNvSpPr txBox="1"/>
          <p:nvPr/>
        </p:nvSpPr>
        <p:spPr>
          <a:xfrm>
            <a:off x="731520" y="365760"/>
            <a:ext cx="10728655" cy="822960"/>
          </a:xfrm>
          <a:prstGeom prst="rect">
            <a:avLst/>
          </a:prstGeom>
          <a:noFill/>
        </p:spPr>
        <p:txBody>
          <a:bodyPr wrap="square">
            <a:spAutoFit/>
          </a:bodyPr>
          <a:lstStyle/>
          <a:p>
            <a:pPr>
              <a:defRPr sz="2400" b="1">
                <a:solidFill>
                  <a:srgbClr val="00F2FE"/>
                </a:solidFill>
                <a:latin typeface="Segoe UI"/>
              </a:defRPr>
            </a:pPr>
            <a:r>
              <a:t>[DEMO 05] PHÂN HỆ QUẢN TRỊ HỆ THỐNG (ADMIN &amp; MODERATOR CONSOLE)</a:t>
            </a:r>
          </a:p>
        </p:txBody>
      </p:sp>
      <p:sp>
        <p:nvSpPr>
          <p:cNvPr id="6" name="Rounded Rectangle 5"/>
          <p:cNvSpPr/>
          <p:nvPr/>
        </p:nvSpPr>
        <p:spPr>
          <a:xfrm>
            <a:off x="731520" y="1234440"/>
            <a:ext cx="5120640" cy="512064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17320"/>
            <a:ext cx="4572000" cy="457200"/>
          </a:xfrm>
          <a:prstGeom prst="rect">
            <a:avLst/>
          </a:prstGeom>
          <a:noFill/>
        </p:spPr>
        <p:txBody>
          <a:bodyPr wrap="none">
            <a:spAutoFit/>
          </a:bodyPr>
          <a:lstStyle/>
          <a:p>
            <a:pPr>
              <a:defRPr sz="1500" b="1">
                <a:solidFill>
                  <a:srgbClr val="F59E0B"/>
                </a:solidFill>
                <a:latin typeface="Segoe UI"/>
              </a:defRPr>
            </a:pPr>
            <a:r>
              <a:t>⚡ ĐẶC TẢ TÍNH NĂNG NỔI BẬT</a:t>
            </a:r>
          </a:p>
        </p:txBody>
      </p:sp>
      <p:sp>
        <p:nvSpPr>
          <p:cNvPr id="8" name="TextBox 7"/>
          <p:cNvSpPr txBox="1"/>
          <p:nvPr/>
        </p:nvSpPr>
        <p:spPr>
          <a:xfrm>
            <a:off x="1005840" y="1874520"/>
            <a:ext cx="4572000" cy="4297680"/>
          </a:xfrm>
          <a:prstGeom prst="rect">
            <a:avLst/>
          </a:prstGeom>
          <a:noFill/>
        </p:spPr>
        <p:txBody>
          <a:bodyPr wrap="square">
            <a:spAutoFit/>
          </a:bodyPr>
          <a:lstStyle/>
          <a:p>
            <a:pPr>
              <a:spcAft>
                <a:spcPts val="1000"/>
              </a:spcAft>
              <a:defRPr b="1" sz="1300">
                <a:solidFill>
                  <a:srgbClr val="38BDF8"/>
                </a:solidFill>
                <a:latin typeface="Segoe UI"/>
              </a:defRPr>
            </a:pPr>
            <a:r>
              <a:t>• Admin Control Center: </a:t>
            </a:r>
            <a:r>
              <a:rPr b="0" sz="1250">
                <a:solidFill>
                  <a:srgbClr val="F0F6FC"/>
                </a:solidFill>
              </a:rPr>
              <a:t>Theo dõi chỉ số DAU/MAU, tổng doanh thu nạp VIP, Server Health Check (FastAPI, SQLite WAL, Gemini Latency).</a:t>
            </a:r>
          </a:p>
          <a:p>
            <a:pPr>
              <a:spcAft>
                <a:spcPts val="1000"/>
              </a:spcAft>
              <a:defRPr b="1" sz="1300">
                <a:solidFill>
                  <a:srgbClr val="38BDF8"/>
                </a:solidFill>
                <a:latin typeface="Segoe UI"/>
              </a:defRPr>
            </a:pPr>
            <a:r>
              <a:t>• Giám sát AI Token Tiêu Thụ: </a:t>
            </a:r>
            <a:r>
              <a:rPr b="0" sz="1250">
                <a:solidFill>
                  <a:srgbClr val="F0F6FC"/>
                </a:solidFill>
              </a:rPr>
              <a:t>Quản lý lưu lượng request, token tiêu thụ trong ngày và hạn mức của từng nhóm tài khoản.</a:t>
            </a:r>
          </a:p>
          <a:p>
            <a:pPr>
              <a:spcAft>
                <a:spcPts val="1000"/>
              </a:spcAft>
              <a:defRPr b="1" sz="1300">
                <a:solidFill>
                  <a:srgbClr val="38BDF8"/>
                </a:solidFill>
                <a:latin typeface="Segoe UI"/>
              </a:defRPr>
            </a:pPr>
            <a:r>
              <a:t>• Quản lý Người Dùng &amp; Khóa Cứng: </a:t>
            </a:r>
            <a:r>
              <a:rPr b="0" sz="1250">
                <a:solidFill>
                  <a:srgbClr val="F0F6FC"/>
                </a:solidFill>
              </a:rPr>
              <a:t>Phân quyền Root Admin/Moderator, khóa tài khoản vi phạm chính sách, đặt lại mật khẩu.</a:t>
            </a:r>
          </a:p>
          <a:p>
            <a:pPr>
              <a:spcAft>
                <a:spcPts val="1000"/>
              </a:spcAft>
              <a:defRPr b="1" sz="1300">
                <a:solidFill>
                  <a:srgbClr val="38BDF8"/>
                </a:solidFill>
                <a:latin typeface="Segoe UI"/>
              </a:defRPr>
            </a:pPr>
            <a:r>
              <a:t>• Duyệt Đơn Nạp VIP 1-Click: </a:t>
            </a:r>
            <a:r>
              <a:rPr b="0" sz="1250">
                <a:solidFill>
                  <a:srgbClr val="F0F6FC"/>
                </a:solidFill>
              </a:rPr>
              <a:t>Phê duyệt đối soát đơn hàng VietQR MB Bank tức thì, tự động kích hoạt hạn sử dụng VIP và gửi thông báo.</a:t>
            </a:r>
          </a:p>
          <a:p>
            <a:pPr>
              <a:spcAft>
                <a:spcPts val="1000"/>
              </a:spcAft>
              <a:defRPr b="1" sz="1300">
                <a:solidFill>
                  <a:srgbClr val="38BDF8"/>
                </a:solidFill>
                <a:latin typeface="Segoe UI"/>
              </a:defRPr>
            </a:pPr>
            <a:r>
              <a:t>• Audit Logs &amp; Quản trị AI: </a:t>
            </a:r>
            <a:r>
              <a:rPr b="0" sz="1250">
                <a:solidFill>
                  <a:srgbClr val="F0F6FC"/>
                </a:solidFill>
              </a:rPr>
              <a:t>Ghi vết mọi hành vi nhạy cảm theo IP/thời gian thực; cho phép Admin chỉnh sửa trực tiếp System Prompt AI.</a:t>
            </a:r>
          </a:p>
        </p:txBody>
      </p:sp>
      <p:sp>
        <p:nvSpPr>
          <p:cNvPr id="9" name="Rounded Rectangle 8"/>
          <p:cNvSpPr/>
          <p:nvPr/>
        </p:nvSpPr>
        <p:spPr>
          <a:xfrm>
            <a:off x="6217920" y="1234440"/>
            <a:ext cx="5120640" cy="512064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08760"/>
            <a:ext cx="4572000" cy="548640"/>
          </a:xfrm>
          <a:prstGeom prst="rect">
            <a:avLst/>
          </a:prstGeom>
          <a:noFill/>
        </p:spPr>
        <p:txBody>
          <a:bodyPr wrap="none">
            <a:spAutoFit/>
          </a:bodyPr>
          <a:lstStyle/>
          <a:p>
            <a:pPr>
              <a:defRPr sz="1400" b="1">
                <a:solidFill>
                  <a:srgbClr val="A855F7"/>
                </a:solidFill>
                <a:latin typeface="Segoe UI"/>
              </a:defRPr>
            </a:pPr>
            <a:r>
              <a:t>🖼️ GIAO DIỆN MINH HỌA (DEMO)</a:t>
            </a:r>
          </a:p>
        </p:txBody>
      </p:sp>
      <p:sp>
        <p:nvSpPr>
          <p:cNvPr id="11" name="Rectangle 10"/>
          <p:cNvSpPr/>
          <p:nvPr/>
        </p:nvSpPr>
        <p:spPr>
          <a:xfrm>
            <a:off x="6492240" y="2057400"/>
            <a:ext cx="4572000" cy="4023360"/>
          </a:xfrm>
          <a:prstGeom prst="rect">
            <a:avLst/>
          </a:prstGeom>
          <a:solidFill>
            <a:srgbClr val="080C1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3246120"/>
            <a:ext cx="4206240" cy="1828800"/>
          </a:xfrm>
          <a:prstGeom prst="rect">
            <a:avLst/>
          </a:prstGeom>
          <a:noFill/>
        </p:spPr>
        <p:txBody>
          <a:bodyPr wrap="square">
            <a:spAutoFit/>
          </a:bodyPr>
          <a:lstStyle/>
          <a:p>
            <a:pPr algn="ctr">
              <a:defRPr b="1" sz="1400">
                <a:solidFill>
                  <a:srgbClr val="00F2FE"/>
                </a:solidFill>
              </a:defRPr>
            </a:pPr>
            <a:r>
              <a:t>[ CHÈN HÌNH ẢNH MINH HỌA TẠI ĐÂY ]</a:t>
            </a:r>
            <a:br/>
          </a:p>
          <a:p>
            <a:pPr algn="ctr">
              <a:defRPr sz="1150">
                <a:solidFill>
                  <a:srgbClr val="94A3B8"/>
                </a:solidFill>
              </a:defRPr>
            </a:pPr>
            <a:r>
              <a:t>Vị trí chèn ảnh minh họa:</a:t>
            </a:r>
            <a:br/>
            <a:r>
              <a:t>1. Bảng điều khiển Admin Dashboard &amp; Giám sát</a:t>
            </a:r>
            <a:br/>
            <a:r>
              <a:t>2. Trung tâm Quản trị AI, Duyệt đơn VIP &amp; Audit Logs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1000">
                <a:solidFill>
                  <a:srgbClr val="94A3B8"/>
                </a:solidFill>
                <a:latin typeface="Segoe UI"/>
              </a:defRPr>
            </a:pPr>
            <a:r>
              <a:t>FinTrack AI • Nền Tảng Quản Lý Chi Tiêu Cá Nhân Tích Hợp AI • Nhóm 03 - ICTU 2026</a:t>
            </a:r>
          </a:p>
        </p:txBody>
      </p:sp>
      <p:sp>
        <p:nvSpPr>
          <p:cNvPr id="5" name="TextBox 4"/>
          <p:cNvSpPr txBox="1"/>
          <p:nvPr/>
        </p:nvSpPr>
        <p:spPr>
          <a:xfrm>
            <a:off x="731520" y="365760"/>
            <a:ext cx="10728655" cy="822960"/>
          </a:xfrm>
          <a:prstGeom prst="rect">
            <a:avLst/>
          </a:prstGeom>
          <a:noFill/>
        </p:spPr>
        <p:txBody>
          <a:bodyPr wrap="square">
            <a:spAutoFit/>
          </a:bodyPr>
          <a:lstStyle/>
          <a:p>
            <a:pPr>
              <a:defRPr sz="2400" b="1">
                <a:solidFill>
                  <a:srgbClr val="00F2FE"/>
                </a:solidFill>
                <a:latin typeface="Segoe UI"/>
              </a:defRPr>
            </a:pPr>
            <a:r>
              <a:t>03. BẢO MẬT ZERO-PII LEAKAGE &amp; HARD LOCKOUT 2 TẦNG</a:t>
            </a:r>
          </a:p>
        </p:txBody>
      </p:sp>
      <p:sp>
        <p:nvSpPr>
          <p:cNvPr id="6" name="Rounded Rectangle 5"/>
          <p:cNvSpPr/>
          <p:nvPr/>
        </p:nvSpPr>
        <p:spPr>
          <a:xfrm>
            <a:off x="731520" y="1234440"/>
            <a:ext cx="3337560" cy="5120640"/>
          </a:xfrm>
          <a:prstGeom prst="roundRect">
            <a:avLst/>
          </a:prstGeom>
          <a:solidFill>
            <a:srgbClr val="111827"/>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71600"/>
            <a:ext cx="3063240" cy="4846320"/>
          </a:xfrm>
          <a:prstGeom prst="rect">
            <a:avLst/>
          </a:prstGeom>
          <a:noFill/>
        </p:spPr>
        <p:txBody>
          <a:bodyPr wrap="square">
            <a:spAutoFit/>
          </a:bodyPr>
          <a:lstStyle/>
          <a:p>
            <a:pPr>
              <a:spcAft>
                <a:spcPts val="1000"/>
              </a:spcAft>
              <a:defRPr b="1" sz="1400">
                <a:solidFill>
                  <a:srgbClr val="00F2FE"/>
                </a:solidFill>
              </a:defRPr>
            </a:pPr>
            <a:r>
              <a:t>🔒 ZERO-PII LEAKAGE</a:t>
            </a:r>
          </a:p>
          <a:p>
            <a:pPr>
              <a:spcAft>
                <a:spcPts val="800"/>
              </a:spcAft>
              <a:defRPr b="1" sz="1200">
                <a:solidFill>
                  <a:srgbClr val="F59E0B"/>
                </a:solidFill>
              </a:defRPr>
            </a:pPr>
            <a:r>
              <a:t>• Khử dữ liệu nhạy cảm: </a:t>
            </a:r>
            <a:r>
              <a:rPr b="0" sz="1150">
                <a:solidFill>
                  <a:srgbClr val="F0F6FC"/>
                </a:solidFill>
              </a:rPr>
              <a:t>Tự động làm sạch số tài khoản ngân hàng (****1234), email, số điện thoại trước khi chuyển vào Prompt AI.</a:t>
            </a:r>
          </a:p>
          <a:p>
            <a:pPr>
              <a:spcAft>
                <a:spcPts val="800"/>
              </a:spcAft>
              <a:defRPr b="1" sz="1200">
                <a:solidFill>
                  <a:srgbClr val="F59E0B"/>
                </a:solidFill>
              </a:defRPr>
            </a:pPr>
            <a:r>
              <a:t>• Zero-PII Guardrail: </a:t>
            </a:r>
            <a:r>
              <a:rPr b="0" sz="1150">
                <a:solidFill>
                  <a:srgbClr val="F0F6FC"/>
                </a:solidFill>
              </a:rPr>
              <a:t>Khi người dùng hỏi về dữ liệu của người khác, AI bắt buộc từ chối 100% theo tiêu chuẩn bảo mật dữ liệu riêng tư.</a:t>
            </a:r>
          </a:p>
          <a:p>
            <a:pPr>
              <a:spcAft>
                <a:spcPts val="800"/>
              </a:spcAft>
              <a:defRPr b="1" sz="1200">
                <a:solidFill>
                  <a:srgbClr val="F59E0B"/>
                </a:solidFill>
              </a:defRPr>
            </a:pPr>
            <a:r>
              <a:t>• Không lưu trữ thông tin thẻ: </a:t>
            </a:r>
            <a:r>
              <a:rPr b="0" sz="1150">
                <a:solidFill>
                  <a:srgbClr val="F0F6FC"/>
                </a:solidFill>
              </a:rPr>
              <a:t>Không lưu CVV/mật khẩu thanh toán, bảo vệ quyền riêng tư tuyệt đối.</a:t>
            </a:r>
          </a:p>
        </p:txBody>
      </p:sp>
      <p:sp>
        <p:nvSpPr>
          <p:cNvPr id="8" name="Rounded Rectangle 7"/>
          <p:cNvSpPr/>
          <p:nvPr/>
        </p:nvSpPr>
        <p:spPr>
          <a:xfrm>
            <a:off x="4389120" y="1234440"/>
            <a:ext cx="3337560" cy="5120640"/>
          </a:xfrm>
          <a:prstGeom prst="roundRect">
            <a:avLst/>
          </a:prstGeom>
          <a:solidFill>
            <a:srgbClr val="111827"/>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371600"/>
            <a:ext cx="3063240" cy="4846320"/>
          </a:xfrm>
          <a:prstGeom prst="rect">
            <a:avLst/>
          </a:prstGeom>
          <a:noFill/>
        </p:spPr>
        <p:txBody>
          <a:bodyPr wrap="square">
            <a:spAutoFit/>
          </a:bodyPr>
          <a:lstStyle/>
          <a:p>
            <a:pPr>
              <a:spcAft>
                <a:spcPts val="1000"/>
              </a:spcAft>
              <a:defRPr b="1" sz="1400">
                <a:solidFill>
                  <a:srgbClr val="F43F5E"/>
                </a:solidFill>
              </a:defRPr>
            </a:pPr>
            <a:r>
              <a:t>🚫 HARD LOCKOUT 2 TẦNG</a:t>
            </a:r>
          </a:p>
          <a:p>
            <a:pPr>
              <a:spcAft>
                <a:spcPts val="800"/>
              </a:spcAft>
              <a:defRPr b="1" sz="1200">
                <a:solidFill>
                  <a:srgbClr val="EC4899"/>
                </a:solidFill>
              </a:defRPr>
            </a:pPr>
            <a:r>
              <a:t>• Tầng 1: Backend FastAPI Dependency: </a:t>
            </a:r>
            <a:r>
              <a:rPr b="0" sz="1150">
                <a:solidFill>
                  <a:srgbClr val="F0F6FC"/>
                </a:solidFill>
              </a:rPr>
              <a:t>Khi tài khoản ở trạng thái LOCKED, API get_current_user chặn đứng ngay với mã lỗi HTTP 403 Forbidden.</a:t>
            </a:r>
          </a:p>
          <a:p>
            <a:pPr>
              <a:spcAft>
                <a:spcPts val="800"/>
              </a:spcAft>
              <a:defRPr b="1" sz="1200">
                <a:solidFill>
                  <a:srgbClr val="EC4899"/>
                </a:solidFill>
              </a:defRPr>
            </a:pPr>
            <a:r>
              <a:t>• Tầng 2: Frontend Client Interceptor: </a:t>
            </a:r>
            <a:r>
              <a:rPr b="0" sz="1150">
                <a:solidFill>
                  <a:srgbClr val="F0F6FC"/>
                </a:solidFill>
              </a:rPr>
              <a:t>Bắt sự kiện lỗi 403, tự động xóa sạch LocalStorage token và cưỡng chế đá ra màn hình Đăng nhập.</a:t>
            </a:r>
          </a:p>
          <a:p>
            <a:pPr>
              <a:spcAft>
                <a:spcPts val="800"/>
              </a:spcAft>
              <a:defRPr b="1" sz="1200">
                <a:solidFill>
                  <a:srgbClr val="EC4899"/>
                </a:solidFill>
              </a:defRPr>
            </a:pPr>
            <a:r>
              <a:t>• Chặn Đăng Nhập: </a:t>
            </a:r>
            <a:r>
              <a:rPr b="0" sz="1150">
                <a:solidFill>
                  <a:srgbClr val="F0F6FC"/>
                </a:solidFill>
              </a:rPr>
              <a:t>API /login từ chối cấp phát JWT token đối với mọi tài khoản đang bị vô hiệu hóa.</a:t>
            </a:r>
          </a:p>
        </p:txBody>
      </p:sp>
      <p:sp>
        <p:nvSpPr>
          <p:cNvPr id="10" name="Rounded Rectangle 9"/>
          <p:cNvSpPr/>
          <p:nvPr/>
        </p:nvSpPr>
        <p:spPr>
          <a:xfrm>
            <a:off x="8046720" y="1234440"/>
            <a:ext cx="3337560" cy="512064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1371600"/>
            <a:ext cx="3063240" cy="4846320"/>
          </a:xfrm>
          <a:prstGeom prst="rect">
            <a:avLst/>
          </a:prstGeom>
          <a:noFill/>
        </p:spPr>
        <p:txBody>
          <a:bodyPr wrap="square">
            <a:spAutoFit/>
          </a:bodyPr>
          <a:lstStyle/>
          <a:p>
            <a:pPr>
              <a:spcAft>
                <a:spcPts val="1000"/>
              </a:spcAft>
              <a:defRPr b="1" sz="1400">
                <a:solidFill>
                  <a:srgbClr val="A855F7"/>
                </a:solidFill>
              </a:defRPr>
            </a:pPr>
            <a:r>
              <a:t>🛡️ AUDIT LOGS &amp; AN TOÀN</a:t>
            </a:r>
          </a:p>
          <a:p>
            <a:pPr>
              <a:spcAft>
                <a:spcPts val="800"/>
              </a:spcAft>
              <a:defRPr b="1" sz="1200">
                <a:solidFill>
                  <a:srgbClr val="10B981"/>
                </a:solidFill>
              </a:defRPr>
            </a:pPr>
            <a:r>
              <a:t>• Ghi vết hoạt động toàn diện: </a:t>
            </a:r>
            <a:r>
              <a:rPr b="0" sz="1150">
                <a:solidFill>
                  <a:srgbClr val="F0F6FC"/>
                </a:solidFill>
              </a:rPr>
              <a:t>Audit Logs ghi nhận mọi thao tác: Đăng nhập, Duyệt đơn VIP, Khóa user, Sửa Prompt AI kèm IP &amp; mốc thời gian.</a:t>
            </a:r>
          </a:p>
          <a:p>
            <a:pPr>
              <a:spcAft>
                <a:spcPts val="800"/>
              </a:spcAft>
              <a:defRPr b="1" sz="1200">
                <a:solidFill>
                  <a:srgbClr val="10B981"/>
                </a:solidFill>
              </a:defRPr>
            </a:pPr>
            <a:r>
              <a:t>• Mã hóa mật khẩu an toàn: </a:t>
            </a:r>
            <a:r>
              <a:rPr b="0" sz="1150">
                <a:solidFill>
                  <a:srgbClr val="F0F6FC"/>
                </a:solidFill>
              </a:rPr>
              <a:t>Sử dụng thuật toán Bcrypt Salt rounds tiêu chuẩn cao cho toàn bộ tài khoản.</a:t>
            </a:r>
          </a:p>
          <a:p>
            <a:pPr>
              <a:spcAft>
                <a:spcPts val="800"/>
              </a:spcAft>
              <a:defRPr b="1" sz="1200">
                <a:solidFill>
                  <a:srgbClr val="10B981"/>
                </a:solidFill>
              </a:defRPr>
            </a:pPr>
            <a:r>
              <a:t>• Session Timeout 7 ngày: </a:t>
            </a:r>
            <a:r>
              <a:rPr b="0" sz="1150">
                <a:solidFill>
                  <a:srgbClr val="F0F6FC"/>
                </a:solidFill>
              </a:rPr>
              <a:t>Access Token JWT có thời hạn định kỳ, tự động thu hồi khi hết hạn hoặc khi user đăng xuất.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1000">
                <a:solidFill>
                  <a:srgbClr val="94A3B8"/>
                </a:solidFill>
                <a:latin typeface="Segoe UI"/>
              </a:defRPr>
            </a:pPr>
            <a:r>
              <a:t>FinTrack AI • Nền Tảng Quản Lý Chi Tiêu Cá Nhân Tích Hợp AI • Nhóm 03 - ICTU 2026</a:t>
            </a:r>
          </a:p>
        </p:txBody>
      </p:sp>
      <p:sp>
        <p:nvSpPr>
          <p:cNvPr id="5" name="TextBox 4"/>
          <p:cNvSpPr txBox="1"/>
          <p:nvPr/>
        </p:nvSpPr>
        <p:spPr>
          <a:xfrm>
            <a:off x="731520" y="365760"/>
            <a:ext cx="10728655" cy="822960"/>
          </a:xfrm>
          <a:prstGeom prst="rect">
            <a:avLst/>
          </a:prstGeom>
          <a:noFill/>
        </p:spPr>
        <p:txBody>
          <a:bodyPr wrap="square">
            <a:spAutoFit/>
          </a:bodyPr>
          <a:lstStyle/>
          <a:p>
            <a:pPr>
              <a:defRPr sz="2400" b="1">
                <a:solidFill>
                  <a:srgbClr val="00F2FE"/>
                </a:solidFill>
                <a:latin typeface="Segoe UI"/>
              </a:defRPr>
            </a:pPr>
            <a:r>
              <a:t>04. KẾ HOẠCH &amp; KẾT QUẢ KIỂM THỬ HỆ THỐNG (TEST CASES)</a:t>
            </a:r>
          </a:p>
        </p:txBody>
      </p:sp>
      <p:sp>
        <p:nvSpPr>
          <p:cNvPr id="6" name="Rounded Rectangle 5"/>
          <p:cNvSpPr/>
          <p:nvPr/>
        </p:nvSpPr>
        <p:spPr>
          <a:xfrm>
            <a:off x="731520" y="1234440"/>
            <a:ext cx="10728655" cy="5120640"/>
          </a:xfrm>
          <a:prstGeom prst="roundRect">
            <a:avLst/>
          </a:prstGeom>
          <a:solidFill>
            <a:srgbClr val="111827"/>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371600"/>
            <a:ext cx="10180015" cy="4754880"/>
          </a:xfrm>
          <a:prstGeom prst="rect">
            <a:avLst/>
          </a:prstGeom>
          <a:noFill/>
        </p:spPr>
        <p:txBody>
          <a:bodyPr wrap="square">
            <a:spAutoFit/>
          </a:bodyPr>
          <a:lstStyle/>
          <a:p>
            <a:pPr>
              <a:spcAft>
                <a:spcPts val="1000"/>
              </a:spcAft>
              <a:defRPr b="1" sz="1500">
                <a:solidFill>
                  <a:srgbClr val="00F2FE"/>
                </a:solidFill>
              </a:defRPr>
            </a:pPr>
            <a:r>
              <a:t>🧪 KẾT QUẢ THỰC NGHIỆM 15 CA KIỂM THỬ TRỌNG TÂM (BLACK-BOX &amp; UNIT TESTS)</a:t>
            </a:r>
          </a:p>
          <a:p>
            <a:pPr>
              <a:spcAft>
                <a:spcPts val="600"/>
              </a:spcAft>
              <a:defRPr b="1" sz="1250">
                <a:solidFill>
                  <a:srgbClr val="10B981"/>
                </a:solidFill>
              </a:defRPr>
            </a:pPr>
            <a:r>
              <a:t>✅ Phân hệ Xác thực &amp; Phân quyền (TC01 - TC03)</a:t>
            </a:r>
            <a:br/>
            <a:r>
              <a:rPr b="0" sz="1150">
                <a:solidFill>
                  <a:srgbClr val="F0F6FC"/>
                </a:solidFill>
              </a:rPr>
              <a:t>   Chi tiết: Đăng ký, Đăng nhập JWT, Phân quyền Role-based (User / Mod / Admin), Khóa cứng tài khoản (Hard Lockout) -&gt; KẾT QUẢ: PASS 100%</a:t>
            </a:r>
          </a:p>
          <a:p>
            <a:pPr>
              <a:spcAft>
                <a:spcPts val="600"/>
              </a:spcAft>
              <a:defRPr b="1" sz="1250">
                <a:solidFill>
                  <a:srgbClr val="10B981"/>
                </a:solidFill>
              </a:defRPr>
            </a:pPr>
            <a:r>
              <a:t>✅ Quản lý Ví &amp; Sổ Giao dịch (TC04 - TC07)</a:t>
            </a:r>
            <a:br/>
            <a:r>
              <a:rPr b="0" sz="1150">
                <a:solidFill>
                  <a:srgbClr val="F0F6FC"/>
                </a:solidFill>
              </a:rPr>
              <a:t>   Chi tiết: Tạo ví, nạp số dư, chuyển ví nội bộ, ghi thu/chi, bộ lọc đa tiêu chí, hoàn tiền tự động khi xóa giao dịch -&gt; KẾT QUẢ: PASS 100%</a:t>
            </a:r>
          </a:p>
          <a:p>
            <a:pPr>
              <a:spcAft>
                <a:spcPts val="600"/>
              </a:spcAft>
              <a:defRPr b="1" sz="1250">
                <a:solidFill>
                  <a:srgbClr val="10B981"/>
                </a:solidFill>
              </a:defRPr>
            </a:pPr>
            <a:r>
              <a:t>✅ Hạn mức Ngân sách &amp; Gamification (TC08 - TC10)</a:t>
            </a:r>
            <a:br/>
            <a:r>
              <a:rPr b="0" sz="1150">
                <a:solidFill>
                  <a:srgbClr val="F0F6FC"/>
                </a:solidFill>
              </a:rPr>
              <a:t>   Chi tiết: Cảnh báo đổi màu ngưỡng 80% (Warning) &amp; 100% (Overspent), tính điểm XP, cập nhật Level Road Map 6 bậc -&gt; KẾT QUẢ: PASS 100%</a:t>
            </a:r>
          </a:p>
          <a:p>
            <a:pPr>
              <a:spcAft>
                <a:spcPts val="600"/>
              </a:spcAft>
              <a:defRPr b="1" sz="1250">
                <a:solidFill>
                  <a:srgbClr val="10B981"/>
                </a:solidFill>
              </a:defRPr>
            </a:pPr>
            <a:r>
              <a:t>✅ AI NLP Parser &amp; Cố vấn 50/30/20 (TC11 - TC13)</a:t>
            </a:r>
            <a:br/>
            <a:r>
              <a:rPr b="0" sz="1150">
                <a:solidFill>
                  <a:srgbClr val="F0F6FC"/>
                </a:solidFill>
              </a:rPr>
              <a:t>   Chi tiết: Bóc tách câu nói tự nhiên tiếng Việt, chẩn đoán sức khỏe dòng tiền, Zero-PII Guardrail từ chối xem dữ liệu người khác -&gt; KẾT QUẢ: PASS 100%</a:t>
            </a:r>
          </a:p>
          <a:p>
            <a:pPr>
              <a:spcAft>
                <a:spcPts val="600"/>
              </a:spcAft>
              <a:defRPr b="1" sz="1250">
                <a:solidFill>
                  <a:srgbClr val="10B981"/>
                </a:solidFill>
              </a:defRPr>
            </a:pPr>
            <a:r>
              <a:t>✅ Cổng Nạp VietQR &amp; Admin Control (TC14 - TC15)</a:t>
            </a:r>
            <a:br/>
            <a:r>
              <a:rPr b="0" sz="1150">
                <a:solidFill>
                  <a:srgbClr val="F0F6FC"/>
                </a:solidFill>
              </a:rPr>
              <a:t>   Chi tiết: Sinh mã VietQR MB Bank chuẩn NAPAS 247, duyệt đơn VIP 1-Click, quản trị System Prompt và xuất CSV -&gt; KẾT QUẢ: PASS 100%</a:t>
            </a:r>
          </a:p>
          <a:p>
            <a:pPr>
              <a:defRPr b="1" sz="1250">
                <a:solidFill>
                  <a:srgbClr val="F59E0B"/>
                </a:solidFill>
              </a:defRPr>
            </a:pPr>
            <a:r>
              <a:t>📊 TỔNG HỢP: 15/15 Kịch Bản Kiểm Thử &amp; 46/46 Bài Test Pytest Tự Động ĐẠT 100% PASS (0 Lỗi Nghiệp Vụ, Độ Trễ AI ~400ms - 600ms).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46520"/>
            <a:ext cx="10728655" cy="320040"/>
          </a:xfrm>
          <a:prstGeom prst="rect">
            <a:avLst/>
          </a:prstGeom>
          <a:noFill/>
        </p:spPr>
        <p:txBody>
          <a:bodyPr wrap="square">
            <a:spAutoFit/>
          </a:bodyPr>
          <a:lstStyle/>
          <a:p>
            <a:pPr>
              <a:defRPr sz="1000">
                <a:solidFill>
                  <a:srgbClr val="94A3B8"/>
                </a:solidFill>
                <a:latin typeface="Segoe UI"/>
              </a:defRPr>
            </a:pPr>
            <a:r>
              <a:t>FinTrack AI • Nền Tảng Quản Lý Chi Tiêu Cá Nhân Tích Hợp AI • Nhóm 03 - ICTU 2026</a:t>
            </a:r>
          </a:p>
        </p:txBody>
      </p:sp>
      <p:sp>
        <p:nvSpPr>
          <p:cNvPr id="5" name="TextBox 4"/>
          <p:cNvSpPr txBox="1"/>
          <p:nvPr/>
        </p:nvSpPr>
        <p:spPr>
          <a:xfrm>
            <a:off x="731520" y="365760"/>
            <a:ext cx="10728655" cy="822960"/>
          </a:xfrm>
          <a:prstGeom prst="rect">
            <a:avLst/>
          </a:prstGeom>
          <a:noFill/>
        </p:spPr>
        <p:txBody>
          <a:bodyPr wrap="square">
            <a:spAutoFit/>
          </a:bodyPr>
          <a:lstStyle/>
          <a:p>
            <a:pPr>
              <a:defRPr sz="2400" b="1">
                <a:solidFill>
                  <a:srgbClr val="00F2FE"/>
                </a:solidFill>
                <a:latin typeface="Segoe UI"/>
              </a:defRPr>
            </a:pPr>
            <a:r>
              <a:t>05. TỔNG KẾT, HƯỚNG PHÁT TRIỂN &amp; LỜI CẢM ƠN</a:t>
            </a:r>
          </a:p>
        </p:txBody>
      </p:sp>
      <p:sp>
        <p:nvSpPr>
          <p:cNvPr id="6" name="Rounded Rectangle 5"/>
          <p:cNvSpPr/>
          <p:nvPr/>
        </p:nvSpPr>
        <p:spPr>
          <a:xfrm>
            <a:off x="731520" y="1234440"/>
            <a:ext cx="5120640" cy="5120640"/>
          </a:xfrm>
          <a:prstGeom prst="roundRect">
            <a:avLst/>
          </a:prstGeom>
          <a:solidFill>
            <a:srgbClr val="111827"/>
          </a:solidFill>
          <a:ln w="1905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17320"/>
            <a:ext cx="4572000" cy="4754880"/>
          </a:xfrm>
          <a:prstGeom prst="rect">
            <a:avLst/>
          </a:prstGeom>
          <a:noFill/>
        </p:spPr>
        <p:txBody>
          <a:bodyPr wrap="square">
            <a:spAutoFit/>
          </a:bodyPr>
          <a:lstStyle/>
          <a:p>
            <a:pPr>
              <a:spcAft>
                <a:spcPts val="1200"/>
              </a:spcAft>
              <a:defRPr b="1" sz="1400">
                <a:solidFill>
                  <a:srgbClr val="00F2FE"/>
                </a:solidFill>
              </a:defRPr>
            </a:pPr>
            <a:r>
              <a:t>🏆 KẾT QUẢ ĐẠT ĐƯỢC &amp; HƯỚNG MỞ RỘNG</a:t>
            </a:r>
          </a:p>
          <a:p>
            <a:pPr>
              <a:spcAft>
                <a:spcPts val="600"/>
              </a:spcAft>
              <a:defRPr b="1" sz="1200">
                <a:solidFill>
                  <a:srgbClr val="F59E0B"/>
                </a:solidFill>
              </a:defRPr>
            </a:pPr>
            <a:r>
              <a:t>• Hoàn thành sản phẩm toàn diện: </a:t>
            </a:r>
            <a:r>
              <a:rPr b="0" sz="1150">
                <a:solidFill>
                  <a:srgbClr val="F0F6FC"/>
                </a:solidFill>
              </a:rPr>
              <a:t>Xây dựng thành công hệ thống Single Page Dark Cyber hiện đại, tích hợp trọn vẹn AI Google Gemini 1.5 Pro và kiến trúc Đa ví 2 tầng.</a:t>
            </a:r>
          </a:p>
          <a:p>
            <a:pPr>
              <a:spcAft>
                <a:spcPts val="600"/>
              </a:spcAft>
              <a:defRPr b="1" sz="1200">
                <a:solidFill>
                  <a:srgbClr val="F59E0B"/>
                </a:solidFill>
              </a:defRPr>
            </a:pPr>
            <a:r>
              <a:t>• Giải quyết bài toán thực tế: </a:t>
            </a:r>
            <a:r>
              <a:rPr b="0" sz="1150">
                <a:solidFill>
                  <a:srgbClr val="F0F6FC"/>
                </a:solidFill>
              </a:rPr>
              <a:t>Giúp người dùng ghi chép chi tiêu trong vài giây, duy trì kỷ luật qua Gamification và được cố vấn dòng tiền 50/30/20.</a:t>
            </a:r>
          </a:p>
          <a:p>
            <a:pPr>
              <a:spcAft>
                <a:spcPts val="600"/>
              </a:spcAft>
              <a:defRPr b="1" sz="1200">
                <a:solidFill>
                  <a:srgbClr val="F59E0B"/>
                </a:solidFill>
              </a:defRPr>
            </a:pPr>
            <a:r>
              <a:t>• Đóng gói ứng dụng Mobile (Flutter / React Native): </a:t>
            </a:r>
            <a:r>
              <a:rPr b="0" sz="1150">
                <a:solidFill>
                  <a:srgbClr val="F0F6FC"/>
                </a:solidFill>
              </a:rPr>
              <a:t>Phát triển phiên bản di động hỗ trợ đồng bộ dữ liệu thời gian thực và thông báo đẩy Push Notification.</a:t>
            </a:r>
          </a:p>
          <a:p>
            <a:pPr>
              <a:spcAft>
                <a:spcPts val="600"/>
              </a:spcAft>
              <a:defRPr b="1" sz="1200">
                <a:solidFill>
                  <a:srgbClr val="F59E0B"/>
                </a:solidFill>
              </a:defRPr>
            </a:pPr>
            <a:r>
              <a:t>• Tích hợp Vision AI (OCR Hóa Đơn): </a:t>
            </a:r>
            <a:r>
              <a:rPr b="0" sz="1150">
                <a:solidFill>
                  <a:srgbClr val="F0F6FC"/>
                </a:solidFill>
              </a:rPr>
              <a:t>Tự động chụp và bóc tách hóa đơn VAT/siêu thị bằng mô hình Gemini Vision.</a:t>
            </a:r>
          </a:p>
          <a:p>
            <a:pPr>
              <a:spcAft>
                <a:spcPts val="600"/>
              </a:spcAft>
              <a:defRPr b="1" sz="1200">
                <a:solidFill>
                  <a:srgbClr val="F59E0B"/>
                </a:solidFill>
              </a:defRPr>
            </a:pPr>
            <a:r>
              <a:t>• Kết nối Open Banking API Tự Động: </a:t>
            </a:r>
            <a:r>
              <a:rPr b="0" sz="1150">
                <a:solidFill>
                  <a:srgbClr val="F0F6FC"/>
                </a:solidFill>
              </a:rPr>
              <a:t>Tự động đồng bộ lịch sử giao dịch ngân hàng theo chuẩn Open Banking Việt Nam.</a:t>
            </a:r>
          </a:p>
        </p:txBody>
      </p:sp>
      <p:sp>
        <p:nvSpPr>
          <p:cNvPr id="8" name="Rounded Rectangle 7"/>
          <p:cNvSpPr/>
          <p:nvPr/>
        </p:nvSpPr>
        <p:spPr>
          <a:xfrm>
            <a:off x="6217920" y="1234440"/>
            <a:ext cx="5120640" cy="5120640"/>
          </a:xfrm>
          <a:prstGeom prst="roundRect">
            <a:avLst/>
          </a:prstGeom>
          <a:solidFill>
            <a:srgbClr val="111827"/>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17320"/>
            <a:ext cx="4572000" cy="4754880"/>
          </a:xfrm>
          <a:prstGeom prst="rect">
            <a:avLst/>
          </a:prstGeom>
          <a:noFill/>
        </p:spPr>
        <p:txBody>
          <a:bodyPr wrap="square">
            <a:spAutoFit/>
          </a:bodyPr>
          <a:lstStyle/>
          <a:p>
            <a:pPr>
              <a:spcAft>
                <a:spcPts val="1200"/>
              </a:spcAft>
              <a:defRPr b="1" sz="1400">
                <a:solidFill>
                  <a:srgbClr val="A855F7"/>
                </a:solidFill>
              </a:defRPr>
            </a:pPr>
            <a:r>
              <a:t>💖 LỜI CẢM ƠN TỪ NHÓM 03</a:t>
            </a:r>
          </a:p>
          <a:p>
            <a:pPr>
              <a:defRPr sz="1250">
                <a:solidFill>
                  <a:srgbClr val="F0F6FC"/>
                </a:solidFill>
              </a:defRPr>
            </a:pPr>
            <a:r>
              <a:t>Nhóm 03 xin gửi lời cảm ơn chân thành và sâu sắc nhất đến:</a:t>
            </a:r>
            <a:br/>
            <a:br/>
          </a:p>
          <a:p>
            <a:pPr>
              <a:defRPr b="1" sz="1400">
                <a:solidFill>
                  <a:srgbClr val="F59E0B"/>
                </a:solidFill>
              </a:defRPr>
            </a:pPr>
            <a:r>
              <a:t>👩‍🏫 ThS. Hà Thị Thanh</a:t>
            </a:r>
          </a:p>
          <a:p>
            <a:pPr>
              <a:spcAft>
                <a:spcPts val="1600"/>
              </a:spcAft>
              <a:defRPr sz="1200">
                <a:solidFill>
                  <a:srgbClr val="94A3B8"/>
                </a:solidFill>
              </a:defRPr>
            </a:pPr>
            <a:r>
              <a:t>Giảng viên hướng dẫn học phần Ứng dụng Trí tuệ Nhân tạo, đã tận tình chỉ dẫn và định hướng chuyên môn quý báu cho nhóm trong suốt quá trình nghiên cứu và thực hiện đồ án.</a:t>
            </a:r>
          </a:p>
          <a:p>
            <a:pPr algn="ctr">
              <a:defRPr b="1" sz="1350">
                <a:solidFill>
                  <a:srgbClr val="00F2FE"/>
                </a:solidFill>
              </a:defRPr>
            </a:pPr>
            <a:r>
              <a:t>🎉 XIN TRÂN TRỌNG CẢM ƠN!</a:t>
            </a:r>
            <a:br/>
            <a:r>
              <a:t>CHÚNG EM XIN SẴN SÀNG NHẬN CÂU HỎI &amp; GÓP Ý TỪ HỘI ĐỒNG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